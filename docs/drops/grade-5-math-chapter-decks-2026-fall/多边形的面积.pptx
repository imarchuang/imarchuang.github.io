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时间建议：4分钟
教学提示：先用封面快速激活话题，问孩子这个单元和生活有什么联系；说明今天的九站学习路线，降低未知感
预期学生回应：学生能说出见过的小数、三角形、坐标或概率情境中的至少一个；学生明白本节会先诊断再讲解
节奏安排：双课时建议：封面到例题为第一课时，易错到作业为第二课时。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时间建议：6分钟
教学提示：目标区只讲关键词，不展开全部定义；诊断题按“口答-追问-标记薄弱点”的节奏走；如果 3 题中错 2 题以上，本章讲解速度要放慢并增加示范
预期学生回应：24平方单位。；和对应的高有关。；不一样，面积用平方单位。
节奏安排：前2分钟看目标，后4分钟做诊断并记录错因关键词。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时间建议：8分钟
教学提示：边指图边讲模型，至少追问一次“为什么”；让学生用自己的话复述本页三个要点；如果学生只会背结论，要回到图上重新解释
预期学生回应：学生能把图上的关键量读出来；学生能用1-2句话复述本章核心模型
节奏安排：这是第一课时的核心页，可多停留1-2分钟确保算理或图形关系真的理解。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时间建议：9分钟
教学提示：题目先让学生独立想30秒，再听完整示范；每一步都要对应回模型，不要只报算式；答案出来后马上做一次合理性检查
预期学生回应：学生能跟着说出关键步骤：按直角拐点切开，分成两个长方形。 / 分别求面积：6×4=24，3×2=6。 / 总面积 24+6=30 平方米。 ；最终答案应为：30平方米
节奏安排：前3分钟审题，4分钟示范，2分钟让学生复述并检查。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时间建议：7分钟
教学提示：不要只说“错了”，要让学生指出错在概念、步骤还是表达；每个误区都请学生自己改一次
预期学生回应：学生能说出错误原因；学生能把每个误区改成正确说法或正确做法
节奏安排：误区1和误区2必讲，误区3可根据诊断情况弹性压缩。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时间建议：8分钟
教学提示：每题先让学生独立作答1分钟，再口头说明方法；只在学生卡住时给提示，不要直接报答案；优先看学生是否用到本章关键词或模型
预期学生回应：40；12；可分成长方形+三角形或两个长方形。
节奏安排：三题建议按照“基础 -&gt; 变式 -&gt; 表达解释”推进。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时间建议：7分钟
教学提示：先让学生口头说“要用哪一种方法”，再动笔；如果是开放题，重点评价解释是否清楚，而不是答案唯一
预期学生回应：梯形面积 32 平方米，总面积 40 平方米。；学生能把应用题和本章核心模型对应起来
节奏安排：有余力的学生可追问：如果数据变化，方法是否仍然有效？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时间建议：5分钟
教学提示：请学生对三条自检逐条打勾或打问号；遇到“半会”的点，要马上口头说出补救办法
预期学生回应：学生能说出至少一个本章最关键的方法；学生能指出自己最需要继续练的一个点
节奏安排：若是双课时结尾，可把这一页作为第二课时最后的回顾页。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时间建议：4分钟
教学提示：逐项确认作业要求，尤其提醒孩子把过程和解释写出来；下节衔接只说1-2个观察点，让预习有方向
预期学生回应：学生能复述今天最重要的一句话；学生知道下节将进入《图形的位置与运动（一）》
节奏安排：最后1分钟请学生口头总结，不再引入新知识点。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D4326"/>
          </a:solidFill>
          <a:ln w="12700">
            <a:solidFill>
              <a:srgbClr val="7D43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85800"/>
            <a:ext cx="5623560" cy="5440680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60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A55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秋季 五年级数学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多边形的面积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面积不是背公式，而是把复杂图形拆回熟悉图形的路线图。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3246120"/>
            <a:ext cx="1920240" cy="475488"/>
          </a:xfrm>
          <a:prstGeom prst="roundRect">
            <a:avLst>
              <a:gd name="adj" fmla="val 23077"/>
            </a:avLst>
          </a:prstGeom>
          <a:solidFill>
            <a:srgbClr val="F8E4D8"/>
          </a:solidFill>
          <a:ln w="12700">
            <a:solidFill>
              <a:srgbClr val="F8E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80944" y="3246120"/>
            <a:ext cx="2194560" cy="475488"/>
          </a:xfrm>
          <a:prstGeom prst="roundRect">
            <a:avLst>
              <a:gd name="adj" fmla="val 23077"/>
            </a:avLst>
          </a:prstGeom>
          <a:solidFill>
            <a:srgbClr val="FBE6BF"/>
          </a:solidFill>
          <a:ln w="12700">
            <a:solidFill>
              <a:srgbClr val="FBE6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3649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55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建议用时：2课时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63240" y="3364992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适用：家长/教师一对一辅导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9776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通过割补、拼组和转化求平行四边形、三角形与组合图形面积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502920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57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九站结构：目标诊断 -&gt; 模型理解 -&gt; 例题 -&gt; 纠错 -&gt; 练习 -&gt; 应用 -&gt; 自检 -&gt; 作业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32320" y="2194560"/>
            <a:ext cx="2011680" cy="1097280"/>
          </a:xfrm>
          <a:prstGeom prst="rect">
            <a:avLst/>
          </a:prstGeom>
          <a:solidFill>
            <a:srgbClr val="F8E4D8"/>
          </a:solidFill>
          <a:ln w="12700">
            <a:solidFill>
              <a:srgbClr val="A55A3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0" y="1554480"/>
            <a:ext cx="1005840" cy="640080"/>
          </a:xfrm>
          <a:prstGeom prst="rect">
            <a:avLst/>
          </a:prstGeom>
          <a:solidFill>
            <a:srgbClr val="FBE4B8"/>
          </a:solidFill>
          <a:ln w="12700">
            <a:solidFill>
              <a:srgbClr val="5C8D8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01000" y="336499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40880" y="2633472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769096" y="222199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473184" y="181965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87768" y="317296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55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拆分后分别求面积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E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F8E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F8E4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F8E4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F8E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F8E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F8E4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F8E4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F8E4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5C8D89"/>
          </a:solidFill>
          <a:ln w="12700">
            <a:solidFill>
              <a:srgbClr val="5C8D8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8E4D8"/>
          </a:solidFill>
          <a:ln w="12700">
            <a:solidFill>
              <a:srgbClr val="F8E4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8E4D8"/>
          </a:solidFill>
          <a:ln w="12700">
            <a:solidFill>
              <a:srgbClr val="F8E4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8E4D8"/>
          </a:solidFill>
          <a:ln w="12700">
            <a:solidFill>
              <a:srgbClr val="F8E4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8E4D8"/>
          </a:solidFill>
          <a:ln w="12700">
            <a:solidFill>
              <a:srgbClr val="F8E4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8E4D8"/>
          </a:solidFill>
          <a:ln w="12700">
            <a:solidFill>
              <a:srgbClr val="F8E4D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8E4D8"/>
          </a:solidFill>
          <a:ln w="12700">
            <a:solidFill>
              <a:srgbClr val="F8E4D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8E4D8"/>
          </a:solidFill>
          <a:ln w="12700">
            <a:solidFill>
              <a:srgbClr val="F8E4D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8E4D8"/>
          </a:solidFill>
          <a:ln w="12700">
            <a:solidFill>
              <a:srgbClr val="F8E4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744200" y="5669280"/>
            <a:ext cx="749808" cy="7498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8E4D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029127" y="5729265"/>
            <a:ext cx="179954" cy="254935"/>
          </a:xfrm>
          <a:prstGeom prst="triangle">
            <a:avLst/>
          </a:prstGeom>
          <a:solidFill>
            <a:srgbClr val="5C8D89"/>
          </a:solidFill>
          <a:ln w="12700">
            <a:solidFill>
              <a:srgbClr val="5C8D8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10800000">
            <a:off x="11029127" y="6104169"/>
            <a:ext cx="179954" cy="254935"/>
          </a:xfrm>
          <a:prstGeom prst="triangle">
            <a:avLst/>
          </a:prstGeom>
          <a:solidFill>
            <a:srgbClr val="A55A34"/>
          </a:solidFill>
          <a:ln w="12700">
            <a:solidFill>
              <a:srgbClr val="A55A3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119104" y="5834238"/>
            <a:ext cx="0" cy="419892"/>
          </a:xfrm>
          <a:prstGeom prst="line">
            <a:avLst/>
          </a:prstGeom>
          <a:noFill/>
          <a:ln w="12700">
            <a:solidFill>
              <a:srgbClr val="7D43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059119" y="5632704"/>
            <a:ext cx="11996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F8E4D8">
              <a:alpha val="78000"/>
            </a:srgbClr>
          </a:solidFill>
          <a:ln w="12700">
            <a:solidFill>
              <a:srgbClr val="F8E4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F8E4D8">
              <a:alpha val="72000"/>
            </a:srgbClr>
          </a:solidFill>
          <a:ln w="12700">
            <a:solidFill>
              <a:srgbClr val="F8E4D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A55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多边形的面积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学习目标与 5 分钟诊断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先看要学什么，再用 3 个小问题判断起点。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5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5C8D89"/>
          </a:solidFill>
          <a:ln w="12700">
            <a:solidFill>
              <a:srgbClr val="5C8D8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1463040"/>
            <a:ext cx="50292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17190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A55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本章目标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14400" y="2240280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217627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能用割补、拼组说明面积公式从哪里来。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14400" y="2697480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263347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会正确选择底和高求面积。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14400" y="3154680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97280" y="309067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会分解组合图形并写完整面积单位。 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989320" y="1463040"/>
            <a:ext cx="553212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17190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A55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5分钟诊断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6309360" y="2148840"/>
            <a:ext cx="4846320" cy="822960"/>
          </a:xfrm>
          <a:prstGeom prst="roundRect">
            <a:avLst>
              <a:gd name="adj" fmla="val 13333"/>
            </a:avLst>
          </a:prstGeom>
          <a:solidFill>
            <a:srgbClr val="F8E4D8"/>
          </a:solidFill>
          <a:ln w="12700">
            <a:solidFill>
              <a:srgbClr val="F8E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73952" y="230428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长方形长 8、宽 3，面积多少？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473952" y="2551176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97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答案提示：24平方单位。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09360" y="3227832"/>
            <a:ext cx="4846320" cy="822960"/>
          </a:xfrm>
          <a:prstGeom prst="roundRect">
            <a:avLst>
              <a:gd name="adj" fmla="val 13333"/>
            </a:avLst>
          </a:prstGeom>
          <a:solidFill>
            <a:srgbClr val="FBEED1"/>
          </a:solidFill>
          <a:ln w="12700">
            <a:solidFill>
              <a:srgbClr val="FBEED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73952" y="3383280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平行四边形面积和底边长度有关，还和什么有关？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473952" y="363016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97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答案提示：和对应的高有关。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09360" y="4306824"/>
            <a:ext cx="4846320" cy="822960"/>
          </a:xfrm>
          <a:prstGeom prst="roundRect">
            <a:avLst>
              <a:gd name="adj" fmla="val 13333"/>
            </a:avLst>
          </a:prstGeom>
          <a:solidFill>
            <a:srgbClr val="F8E4D8"/>
          </a:solidFill>
          <a:ln w="12700">
            <a:solidFill>
              <a:srgbClr val="F8E4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73952" y="4462272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面积和周长单位一样吗？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473952" y="4709160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97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答案提示：不一样，面积用平方单位。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194560" y="5285232"/>
            <a:ext cx="2011680" cy="1097280"/>
          </a:xfrm>
          <a:prstGeom prst="rect">
            <a:avLst/>
          </a:prstGeom>
          <a:solidFill>
            <a:srgbClr val="F8E4D8"/>
          </a:solidFill>
          <a:ln w="12700">
            <a:solidFill>
              <a:srgbClr val="A55A3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474720" y="4645152"/>
            <a:ext cx="1005840" cy="640080"/>
          </a:xfrm>
          <a:prstGeom prst="rect">
            <a:avLst/>
          </a:prstGeom>
          <a:solidFill>
            <a:srgbClr val="FBE4B8"/>
          </a:solidFill>
          <a:ln w="12700">
            <a:solidFill>
              <a:srgbClr val="5C8D8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63240" y="645566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103120" y="572414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831336" y="5312664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535424" y="491032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1018520" y="5998464"/>
            <a:ext cx="475488" cy="475488"/>
          </a:xfrm>
          <a:prstGeom prst="ellipse">
            <a:avLst/>
          </a:prstGeom>
          <a:solidFill>
            <a:srgbClr val="F8E4D8"/>
          </a:solidFill>
          <a:ln w="12700">
            <a:solidFill>
              <a:srgbClr val="A55A3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199205" y="6036503"/>
            <a:ext cx="114117" cy="161666"/>
          </a:xfrm>
          <a:prstGeom prst="triangle">
            <a:avLst/>
          </a:prstGeom>
          <a:solidFill>
            <a:srgbClr val="5C8D89"/>
          </a:solidFill>
          <a:ln w="12700">
            <a:solidFill>
              <a:srgbClr val="5C8D8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rot="10800000">
            <a:off x="11199205" y="6274247"/>
            <a:ext cx="114117" cy="161666"/>
          </a:xfrm>
          <a:prstGeom prst="triangle">
            <a:avLst/>
          </a:prstGeom>
          <a:solidFill>
            <a:srgbClr val="A55A34"/>
          </a:solidFill>
          <a:ln w="12700">
            <a:solidFill>
              <a:srgbClr val="A55A3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256264" y="6103071"/>
            <a:ext cx="0" cy="266273"/>
          </a:xfrm>
          <a:prstGeom prst="line">
            <a:avLst/>
          </a:prstGeom>
          <a:noFill/>
          <a:ln w="12700">
            <a:solidFill>
              <a:srgbClr val="25374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1218225" y="5961888"/>
            <a:ext cx="7607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F8E4D8">
              <a:alpha val="78000"/>
            </a:srgbClr>
          </a:solidFill>
          <a:ln w="12700">
            <a:solidFill>
              <a:srgbClr val="F8E4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F8E4D8">
              <a:alpha val="72000"/>
            </a:srgbClr>
          </a:solidFill>
          <a:ln w="12700">
            <a:solidFill>
              <a:srgbClr val="F8E4D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A55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多边形的面积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核心概念与模型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复杂图形先“拆”，再“转”，最后“算”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5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5C8D89"/>
          </a:solidFill>
          <a:ln w="12700">
            <a:solidFill>
              <a:srgbClr val="5C8D8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1481328"/>
            <a:ext cx="562356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44168" y="2862072"/>
            <a:ext cx="2011680" cy="1097280"/>
          </a:xfrm>
          <a:prstGeom prst="rect">
            <a:avLst/>
          </a:prstGeom>
          <a:solidFill>
            <a:srgbClr val="F8E4D8"/>
          </a:solidFill>
          <a:ln w="12700">
            <a:solidFill>
              <a:srgbClr val="A55A3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24328" y="2221992"/>
            <a:ext cx="1005840" cy="640080"/>
          </a:xfrm>
          <a:prstGeom prst="rect">
            <a:avLst/>
          </a:prstGeom>
          <a:solidFill>
            <a:srgbClr val="FBE4B8"/>
          </a:solidFill>
          <a:ln w="12700">
            <a:solidFill>
              <a:srgbClr val="5C8D8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12848" y="40325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52728" y="330098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980944" y="2889504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85032" y="248716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499616" y="384048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55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拆分后分别求面积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419088" y="1481328"/>
            <a:ext cx="512064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0840" y="17373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A55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抓住这 3 个要点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6720840" y="2276856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03720" y="221284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平行四边形可割补成同底同高的长方形。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720840" y="2734056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03720" y="267004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三角形面积等于同底同高平行四边形面积的一半。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720840" y="3191256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03720" y="312724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组合图形可分割成熟悉图形后分别求面积。 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6720840" y="3794760"/>
            <a:ext cx="4434840" cy="1325880"/>
          </a:xfrm>
          <a:prstGeom prst="roundRect">
            <a:avLst>
              <a:gd name="adj" fmla="val 8276"/>
            </a:avLst>
          </a:prstGeom>
          <a:solidFill>
            <a:srgbClr val="F8E4D8"/>
          </a:solidFill>
          <a:ln w="12700">
            <a:solidFill>
              <a:srgbClr val="F8E4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31152" y="39776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A55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教学提醒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931152" y="4224528"/>
            <a:ext cx="4041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让学生先“说模型”，再“做题”。只给算法不够，要追问为什么能这样做。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F8E4D8">
              <a:alpha val="78000"/>
            </a:srgbClr>
          </a:solidFill>
          <a:ln w="12700">
            <a:solidFill>
              <a:srgbClr val="F8E4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F8E4D8">
              <a:alpha val="72000"/>
            </a:srgbClr>
          </a:solidFill>
          <a:ln w="12700">
            <a:solidFill>
              <a:srgbClr val="F8E4D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A55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多边形的面积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例题精讲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把模型落到一道典型题上，完整示范思路与书写。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5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5C8D89"/>
          </a:solidFill>
          <a:ln w="12700">
            <a:solidFill>
              <a:srgbClr val="5C8D8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1481328"/>
            <a:ext cx="553212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17190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A55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题目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32688" y="1993392"/>
            <a:ext cx="4956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一块 L 形菜地可分成 6×4 和 3×2 两个长方形，面积是多少？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32688" y="27980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55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示范步骤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32688" y="3154680"/>
            <a:ext cx="164592" cy="164592"/>
          </a:xfrm>
          <a:prstGeom prst="ellipse">
            <a:avLst/>
          </a:prstGeom>
          <a:solidFill>
            <a:srgbClr val="5C8D89"/>
          </a:solidFill>
          <a:ln w="12700">
            <a:solidFill>
              <a:srgbClr val="5C8D8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2688" y="3174431"/>
            <a:ext cx="164592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70432" y="30358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按直角拐点切开，分成两个长方形。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32688" y="3685032"/>
            <a:ext cx="164592" cy="164592"/>
          </a:xfrm>
          <a:prstGeom prst="ellipse">
            <a:avLst/>
          </a:prstGeom>
          <a:solidFill>
            <a:srgbClr val="5C8D89"/>
          </a:solidFill>
          <a:ln w="12700">
            <a:solidFill>
              <a:srgbClr val="5C8D8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2688" y="3704783"/>
            <a:ext cx="164592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70432" y="35661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分别求面积：6×4=24，3×2=6。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32688" y="4215384"/>
            <a:ext cx="164592" cy="164592"/>
          </a:xfrm>
          <a:prstGeom prst="ellipse">
            <a:avLst/>
          </a:prstGeom>
          <a:solidFill>
            <a:srgbClr val="5C8D89"/>
          </a:solidFill>
          <a:ln w="12700">
            <a:solidFill>
              <a:srgbClr val="5C8D8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2688" y="4235135"/>
            <a:ext cx="164592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70432" y="40965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总面积 24+6=30 平方米。 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932688" y="5138928"/>
            <a:ext cx="4709160" cy="530352"/>
          </a:xfrm>
          <a:prstGeom prst="roundRect">
            <a:avLst>
              <a:gd name="adj" fmla="val 20690"/>
            </a:avLst>
          </a:prstGeom>
          <a:solidFill>
            <a:srgbClr val="FBEED1"/>
          </a:solidFill>
          <a:ln w="12700">
            <a:solidFill>
              <a:srgbClr val="FBEED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15568" y="5303520"/>
            <a:ext cx="4352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答案：30平方米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355080" y="1481328"/>
            <a:ext cx="5175504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086600" y="2834640"/>
            <a:ext cx="2011680" cy="1097280"/>
          </a:xfrm>
          <a:prstGeom prst="rect">
            <a:avLst/>
          </a:prstGeom>
          <a:solidFill>
            <a:srgbClr val="F8E4D8"/>
          </a:solidFill>
          <a:ln w="12700">
            <a:solidFill>
              <a:srgbClr val="A55A3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66760" y="2194560"/>
            <a:ext cx="1005840" cy="640080"/>
          </a:xfrm>
          <a:prstGeom prst="rect">
            <a:avLst/>
          </a:prstGeom>
          <a:solidFill>
            <a:srgbClr val="FBE4B8"/>
          </a:solidFill>
          <a:ln w="12700">
            <a:solidFill>
              <a:srgbClr val="5C8D8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55280" y="400507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995160" y="3273552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723376" y="286207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427464" y="245973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680960" y="405993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55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+ 6 = 30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F8E4D8">
              <a:alpha val="78000"/>
            </a:srgbClr>
          </a:solidFill>
          <a:ln w="12700">
            <a:solidFill>
              <a:srgbClr val="F8E4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F8E4D8">
              <a:alpha val="72000"/>
            </a:srgbClr>
          </a:solidFill>
          <a:ln w="12700">
            <a:solidFill>
              <a:srgbClr val="F8E4D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A55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多边形的面积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易错门诊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把常见错误摆出来，对照“为什么错、怎样改”。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5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5C8D89"/>
          </a:solidFill>
          <a:ln w="12700">
            <a:solidFill>
              <a:srgbClr val="5C8D8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1481328"/>
            <a:ext cx="64008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1810512"/>
            <a:ext cx="5870448" cy="987552"/>
          </a:xfrm>
          <a:prstGeom prst="roundRect">
            <a:avLst>
              <a:gd name="adj" fmla="val 11111"/>
            </a:avLst>
          </a:prstGeom>
          <a:solidFill>
            <a:srgbClr val="F8E4D8"/>
          </a:solidFill>
          <a:ln w="12700">
            <a:solidFill>
              <a:srgbClr val="F8E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1975104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误区 1：只看边长，不找对应高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97280" y="2249424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55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修正：面积公式里的高必须与所选底对应。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14400" y="3108960"/>
            <a:ext cx="5870448" cy="987552"/>
          </a:xfrm>
          <a:prstGeom prst="roundRect">
            <a:avLst>
              <a:gd name="adj" fmla="val 11111"/>
            </a:avLst>
          </a:prstGeom>
          <a:solidFill>
            <a:srgbClr val="FCE7E9"/>
          </a:solidFill>
          <a:ln w="12700">
            <a:solidFill>
              <a:srgbClr val="FCE7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3273552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误区 2：三角形面积直接底×高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97280" y="3547872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96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修正：还要除以2。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14400" y="4407408"/>
            <a:ext cx="5870448" cy="987552"/>
          </a:xfrm>
          <a:prstGeom prst="roundRect">
            <a:avLst>
              <a:gd name="adj" fmla="val 11111"/>
            </a:avLst>
          </a:prstGeom>
          <a:solidFill>
            <a:srgbClr val="F8E4D8"/>
          </a:solidFill>
          <a:ln w="12700">
            <a:solidFill>
              <a:srgbClr val="F8E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97280" y="4572000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误区 3：答案忘记写平方单位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097280" y="4846320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55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修正：面积必须写平方厘米、平方米等。 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269480" y="1481328"/>
            <a:ext cx="4261104" cy="4526280"/>
          </a:xfrm>
          <a:prstGeom prst="roundRect">
            <a:avLst>
              <a:gd name="adj" fmla="val 2575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19872" y="2231136"/>
            <a:ext cx="2148840" cy="1600200"/>
          </a:xfrm>
          <a:prstGeom prst="triangle">
            <a:avLst/>
          </a:prstGeom>
          <a:solidFill>
            <a:srgbClr val="FBE4B8"/>
          </a:solidFill>
          <a:ln w="12700">
            <a:solidFill>
              <a:srgbClr val="5C8D8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38160" y="3968496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6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面积 = 底 × 高 ÷ 2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F8E4D8">
              <a:alpha val="78000"/>
            </a:srgbClr>
          </a:solidFill>
          <a:ln w="12700">
            <a:solidFill>
              <a:srgbClr val="F8E4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F8E4D8">
              <a:alpha val="72000"/>
            </a:srgbClr>
          </a:solidFill>
          <a:ln w="12700">
            <a:solidFill>
              <a:srgbClr val="F8E4D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A55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多边形的面积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引导练习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一题一停顿，观察学生是否把模型迁移到新题。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5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5C8D89"/>
          </a:solidFill>
          <a:ln w="12700">
            <a:solidFill>
              <a:srgbClr val="5C8D8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1664208"/>
            <a:ext cx="3246120" cy="41605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" y="19019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55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练习 1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24128" y="2304288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底 8、高 5 的平行四边形面积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371600" y="3986784"/>
            <a:ext cx="2011680" cy="1097280"/>
          </a:xfrm>
          <a:prstGeom prst="rect">
            <a:avLst/>
          </a:prstGeom>
          <a:solidFill>
            <a:srgbClr val="F8E4D8"/>
          </a:solidFill>
          <a:ln w="12700">
            <a:solidFill>
              <a:srgbClr val="A55A3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51760" y="3346704"/>
            <a:ext cx="1005840" cy="640080"/>
          </a:xfrm>
          <a:prstGeom prst="rect">
            <a:avLst/>
          </a:prstGeom>
          <a:solidFill>
            <a:srgbClr val="FBE4B8"/>
          </a:solidFill>
          <a:ln w="12700">
            <a:solidFill>
              <a:srgbClr val="5C8D8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40280" y="51572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280160" y="442569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008376" y="4014216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712464" y="361188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24128" y="5074920"/>
            <a:ext cx="2816352" cy="457200"/>
          </a:xfrm>
          <a:prstGeom prst="roundRect">
            <a:avLst>
              <a:gd name="adj" fmla="val 24000"/>
            </a:avLst>
          </a:prstGeom>
          <a:solidFill>
            <a:srgbClr val="F8E4D8"/>
          </a:solidFill>
          <a:ln w="12700">
            <a:solidFill>
              <a:srgbClr val="F8E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52144" y="521208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55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答案提示：40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617720" y="1664208"/>
            <a:ext cx="3246120" cy="4160520"/>
          </a:xfrm>
          <a:prstGeom prst="roundRect">
            <a:avLst>
              <a:gd name="adj" fmla="val 3380"/>
            </a:avLst>
          </a:prstGeom>
          <a:solidFill>
            <a:srgbClr val="FBFCFE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18888" y="19019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55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练习 2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4818888" y="2304288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底 6、高 4 的三角形面积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5166360" y="3986784"/>
            <a:ext cx="2011680" cy="1097280"/>
          </a:xfrm>
          <a:prstGeom prst="rect">
            <a:avLst/>
          </a:prstGeom>
          <a:solidFill>
            <a:srgbClr val="F8E4D8"/>
          </a:solidFill>
          <a:ln w="12700">
            <a:solidFill>
              <a:srgbClr val="A55A3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46520" y="3346704"/>
            <a:ext cx="1005840" cy="640080"/>
          </a:xfrm>
          <a:prstGeom prst="rect">
            <a:avLst/>
          </a:prstGeom>
          <a:solidFill>
            <a:srgbClr val="FBE4B8"/>
          </a:solidFill>
          <a:ln w="12700">
            <a:solidFill>
              <a:srgbClr val="5C8D8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35040" y="51572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74920" y="442569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03136" y="4014216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507224" y="361188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18888" y="5074920"/>
            <a:ext cx="2816352" cy="457200"/>
          </a:xfrm>
          <a:prstGeom prst="roundRect">
            <a:avLst>
              <a:gd name="adj" fmla="val 24000"/>
            </a:avLst>
          </a:prstGeom>
          <a:solidFill>
            <a:srgbClr val="F8E4D8"/>
          </a:solidFill>
          <a:ln w="12700">
            <a:solidFill>
              <a:srgbClr val="F8E4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46904" y="521208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55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答案提示：12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412480" y="1664208"/>
            <a:ext cx="3246120" cy="41605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13648" y="19019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55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练习 3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8613648" y="2304288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把组合图形分成两个已学图形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8961120" y="3986784"/>
            <a:ext cx="2011680" cy="1097280"/>
          </a:xfrm>
          <a:prstGeom prst="rect">
            <a:avLst/>
          </a:prstGeom>
          <a:solidFill>
            <a:srgbClr val="F8E4D8"/>
          </a:solidFill>
          <a:ln w="12700">
            <a:solidFill>
              <a:srgbClr val="A55A3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241280" y="3346704"/>
            <a:ext cx="1005840" cy="640080"/>
          </a:xfrm>
          <a:prstGeom prst="rect">
            <a:avLst/>
          </a:prstGeom>
          <a:solidFill>
            <a:srgbClr val="FBE4B8"/>
          </a:solidFill>
          <a:ln w="12700">
            <a:solidFill>
              <a:srgbClr val="5C8D8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829800" y="51572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869680" y="442569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0597896" y="4014216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1301984" y="361188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613648" y="5074920"/>
            <a:ext cx="2816352" cy="457200"/>
          </a:xfrm>
          <a:prstGeom prst="roundRect">
            <a:avLst>
              <a:gd name="adj" fmla="val 24000"/>
            </a:avLst>
          </a:prstGeom>
          <a:solidFill>
            <a:srgbClr val="F8E4D8"/>
          </a:solidFill>
          <a:ln w="12700">
            <a:solidFill>
              <a:srgbClr val="F8E4D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741664" y="521208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55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答案提示：可分成长方形+三角形或两个长方形。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F8E4D8">
              <a:alpha val="78000"/>
            </a:srgbClr>
          </a:solidFill>
          <a:ln w="12700">
            <a:solidFill>
              <a:srgbClr val="F8E4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F8E4D8">
              <a:alpha val="72000"/>
            </a:srgbClr>
          </a:solidFill>
          <a:ln w="12700">
            <a:solidFill>
              <a:srgbClr val="F8E4D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A55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多边形的面积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挑战与应用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把知识带回真实情境，训练“会用”而不是“会背”。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5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5C8D89"/>
          </a:solidFill>
          <a:ln w="12700">
            <a:solidFill>
              <a:srgbClr val="5C8D8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1481328"/>
            <a:ext cx="54864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17556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A55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花坛设计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32688" y="2176272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学校想做一个上底 6 m、下底 10 m、高 4 m 的梯形花坛，再在旁边加一个面积 8 m² 的小三角形区，总面积是多少？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932688" y="4343400"/>
            <a:ext cx="4663440" cy="804672"/>
          </a:xfrm>
          <a:prstGeom prst="roundRect">
            <a:avLst>
              <a:gd name="adj" fmla="val 13636"/>
            </a:avLst>
          </a:prstGeom>
          <a:solidFill>
            <a:srgbClr val="FBEED1"/>
          </a:solidFill>
          <a:ln w="12700">
            <a:solidFill>
              <a:srgbClr val="FBEED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15568" y="4553712"/>
            <a:ext cx="4315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参考答案：梯形面积 32 平方米，总面积 40 平方米。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382512" y="1481328"/>
            <a:ext cx="5148072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13448" y="2258568"/>
            <a:ext cx="2468880" cy="1508760"/>
          </a:xfrm>
          <a:prstGeom prst="trapezoid">
            <a:avLst/>
          </a:prstGeom>
          <a:solidFill>
            <a:srgbClr val="F8E4D8"/>
          </a:solidFill>
          <a:ln w="12700">
            <a:solidFill>
              <a:srgbClr val="A55A3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07808" y="206654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上底6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534656" y="3822192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下底10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363456" y="283464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F8E4D8">
              <a:alpha val="78000"/>
            </a:srgbClr>
          </a:solidFill>
          <a:ln w="12700">
            <a:solidFill>
              <a:srgbClr val="F8E4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F8E4D8">
              <a:alpha val="72000"/>
            </a:srgbClr>
          </a:solidFill>
          <a:ln w="12700">
            <a:solidFill>
              <a:srgbClr val="F8E4D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A55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多边形的面积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小结与自检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用“我会不会”收口，帮助学生形成清晰的复盘感。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5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5C8D89"/>
          </a:solidFill>
          <a:ln w="12700">
            <a:solidFill>
              <a:srgbClr val="5C8D8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1481328"/>
            <a:ext cx="530352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17556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A55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我今天至少要带走这三件事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32688" y="2194560"/>
            <a:ext cx="4526280" cy="658368"/>
          </a:xfrm>
          <a:prstGeom prst="roundRect">
            <a:avLst>
              <a:gd name="adj" fmla="val 16667"/>
            </a:avLst>
          </a:prstGeom>
          <a:solidFill>
            <a:srgbClr val="F8E4D8"/>
          </a:solidFill>
          <a:ln w="12700">
            <a:solidFill>
              <a:srgbClr val="F8E4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78992" y="235915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78992" y="2383292"/>
            <a:ext cx="20116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371600" y="23591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我知道面积公式背后的转化过程。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32688" y="3154680"/>
            <a:ext cx="4526280" cy="658368"/>
          </a:xfrm>
          <a:prstGeom prst="roundRect">
            <a:avLst>
              <a:gd name="adj" fmla="val 16667"/>
            </a:avLst>
          </a:prstGeom>
          <a:solidFill>
            <a:srgbClr val="FBEED1"/>
          </a:solidFill>
          <a:ln w="12700">
            <a:solidFill>
              <a:srgbClr val="FBEED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78992" y="331927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78992" y="3343412"/>
            <a:ext cx="20116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371600" y="33192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我能区分边和对应高。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932688" y="4114800"/>
            <a:ext cx="4526280" cy="658368"/>
          </a:xfrm>
          <a:prstGeom prst="roundRect">
            <a:avLst>
              <a:gd name="adj" fmla="val 16667"/>
            </a:avLst>
          </a:prstGeom>
          <a:solidFill>
            <a:srgbClr val="F8E4D8"/>
          </a:solidFill>
          <a:ln w="12700">
            <a:solidFill>
              <a:srgbClr val="F8E4D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78992" y="427939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78992" y="4303532"/>
            <a:ext cx="20116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371600" y="42793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我会给面积结果写上正确单位。 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172200" y="1481328"/>
            <a:ext cx="5358384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03720" y="2889504"/>
            <a:ext cx="2011680" cy="1097280"/>
          </a:xfrm>
          <a:prstGeom prst="rect">
            <a:avLst/>
          </a:prstGeom>
          <a:solidFill>
            <a:srgbClr val="F8E4D8"/>
          </a:solidFill>
          <a:ln w="12700">
            <a:solidFill>
              <a:srgbClr val="A55A3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83880" y="2249424"/>
            <a:ext cx="1005840" cy="640080"/>
          </a:xfrm>
          <a:prstGeom prst="rect">
            <a:avLst/>
          </a:prstGeom>
          <a:solidFill>
            <a:srgbClr val="FBE4B8"/>
          </a:solidFill>
          <a:ln w="12700">
            <a:solidFill>
              <a:srgbClr val="5C8D8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0" y="405993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12280" y="332841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540496" y="2916936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244584" y="251460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629400" y="5321808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55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自评口令：会说模型 -&gt; 会做题 -&gt; 会检查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F8E4D8">
              <a:alpha val="78000"/>
            </a:srgbClr>
          </a:solidFill>
          <a:ln w="12700">
            <a:solidFill>
              <a:srgbClr val="F8E4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F8E4D8">
              <a:alpha val="72000"/>
            </a:srgbClr>
          </a:solidFill>
          <a:ln w="12700">
            <a:solidFill>
              <a:srgbClr val="F8E4D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A55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多边形的面积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作业与下节衔接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收束本章，留下可以独立完成的练习和前置准备。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5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5C8D89"/>
          </a:solidFill>
          <a:ln w="12700">
            <a:solidFill>
              <a:srgbClr val="5C8D8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1481328"/>
            <a:ext cx="649224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17556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A55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课后任务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969264" y="2176272"/>
            <a:ext cx="164592" cy="164592"/>
          </a:xfrm>
          <a:prstGeom prst="ellipse">
            <a:avLst/>
          </a:prstGeom>
          <a:solidFill>
            <a:srgbClr val="5C8D89"/>
          </a:solidFill>
          <a:ln w="12700">
            <a:solidFill>
              <a:srgbClr val="5C8D8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9264" y="2196023"/>
            <a:ext cx="164592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25296" y="2066544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 3 题多边形面积计算，其中 1 题写出分解图。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69264" y="3017520"/>
            <a:ext cx="164592" cy="164592"/>
          </a:xfrm>
          <a:prstGeom prst="ellipse">
            <a:avLst/>
          </a:prstGeom>
          <a:solidFill>
            <a:srgbClr val="5C8D89"/>
          </a:solidFill>
          <a:ln w="12700">
            <a:solidFill>
              <a:srgbClr val="5C8D8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9264" y="3037271"/>
            <a:ext cx="164592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225296" y="290779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观察家中或校园中的组合图形，画图并标注分解方法。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969264" y="3858768"/>
            <a:ext cx="164592" cy="164592"/>
          </a:xfrm>
          <a:prstGeom prst="ellipse">
            <a:avLst/>
          </a:prstGeom>
          <a:solidFill>
            <a:srgbClr val="5C8D89"/>
          </a:solidFill>
          <a:ln w="12700">
            <a:solidFill>
              <a:srgbClr val="5C8D8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9264" y="3878519"/>
            <a:ext cx="164592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225296" y="374904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预习下节：回忆数对和方格纸上的位置描述。 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7333488" y="1481328"/>
            <a:ext cx="4197096" cy="4526280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71232" y="17556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A55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下节衔接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7571232" y="2084832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图形的位置与运动（一）</a:t>
            </a: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7909560" y="3730752"/>
            <a:ext cx="2011680" cy="1097280"/>
          </a:xfrm>
          <a:prstGeom prst="rect">
            <a:avLst/>
          </a:prstGeom>
          <a:solidFill>
            <a:srgbClr val="F8E4D8"/>
          </a:solidFill>
          <a:ln w="12700">
            <a:solidFill>
              <a:srgbClr val="A55A3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89720" y="3090672"/>
            <a:ext cx="1005840" cy="640080"/>
          </a:xfrm>
          <a:prstGeom prst="rect">
            <a:avLst/>
          </a:prstGeom>
          <a:solidFill>
            <a:srgbClr val="FBE4B8"/>
          </a:solidFill>
          <a:ln w="12700">
            <a:solidFill>
              <a:srgbClr val="5C8D8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78240" y="490118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818120" y="416966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546336" y="3758184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250424" y="335584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589520" y="5212080"/>
            <a:ext cx="3639312" cy="438912"/>
          </a:xfrm>
          <a:prstGeom prst="roundRect">
            <a:avLst>
              <a:gd name="adj" fmla="val 25000"/>
            </a:avLst>
          </a:prstGeom>
          <a:solidFill>
            <a:srgbClr val="F8E4D8"/>
          </a:solidFill>
          <a:ln w="12700">
            <a:solidFill>
              <a:srgbClr val="F8E4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99248" y="5340096"/>
            <a:ext cx="3401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55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建议家长让孩子先口述“今天最重要的一句话”。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Airwallex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多边形的面积</dc:title>
  <dc:subject>五年级数学 多边形的面积</dc:subject>
  <dc:creator>Cursor GPT-5.4</dc:creator>
  <cp:lastModifiedBy>Cursor GPT-5.4</cp:lastModifiedBy>
  <cp:revision>1</cp:revision>
  <dcterms:created xsi:type="dcterms:W3CDTF">2026-08-25T10:21:31Z</dcterms:created>
  <dcterms:modified xsi:type="dcterms:W3CDTF">2026-08-25T10:21:31Z</dcterms:modified>
</cp:coreProperties>
</file>