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节奏安排：双课时建议：封面到例题为第一课时，易错到作业为第二课时。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预期学生回应：3个0.6相加，或0.6的3倍。；更大，是24。；不会，乘0.5相当于取一半。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节奏安排：这是第一课时的核心页，可多停留1-2分钟确保算理或图形关系真的理解。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预期学生回应：学生能跟着说出关键步骤：先算 24×15=360。 / 原式中共有 2 位小数，所以积写成 3.60，也就是 3.6。 / 估算 2.4×1.5≈2.5×1.5≈3.75，结果 3.6 合理。 ；最终答案应为：3.6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预期学生回应：3.2；0.5；约8左右，精算是8.19。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预期学生回应：一块 0.96 平方米，10 块共 9.6 平方米。；学生能把应用题和本章核心模型对应起来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预期学生回应：学生能复述今天最重要的一句话；学生知道下节将进入《用字母表示（一）》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94321"/>
          </a:solidFill>
          <a:ln w="12700">
            <a:solidFill>
              <a:srgbClr val="69432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把“缩小的单位”和“放大的个数”放进同一张乘法地图。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建议用时：2课时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理解小数乘法的意义，会用转化、估算和点小数点的方法求积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95160" y="1453896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04888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4344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63256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82712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2168" y="156362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04888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24344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3256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82712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178308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4344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43800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63256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82712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02168" y="20025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4888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24344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43800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63256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82712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02168" y="22219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59168" y="2532888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个 0.1×0.1 单位方格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18120" y="2862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× 1.5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E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F8E7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69432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能结合面积、价格等情境解释小数乘法的意义。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会把小数乘法转化成整数乘法，再确定小数点位置。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会用估算判断积的大小是否合理。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0.6×3 表示什么？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答案提示：3个0.6相加，或0.6的3倍。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2.4×10 应该比 2.4 大还是小？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答案提示：更大，是24。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1.9×0.5 的结果会大于 1.9 吗？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答案提示：不会，乘0.5相当于取一半。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39112" y="4690872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48840" y="480060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68296" y="480060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87752" y="480060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07208" y="480060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26664" y="480060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48840" y="502005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68296" y="502005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87752" y="502005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807208" y="502005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26664" y="502005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48840" y="523951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368296" y="523951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87752" y="523951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07208" y="523951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26664" y="523951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148840" y="545896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368296" y="545896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87752" y="545896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07208" y="545896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26664" y="545896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103120" y="5769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743200" y="6355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F8E7D1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先转化，再定位：小数乘法不是“盲点小数点”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" y="2121408"/>
            <a:ext cx="1536192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16736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36192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5648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14016" y="2231136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16736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36192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55648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975104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94560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14016" y="2450592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16736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36192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55648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75104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14016" y="26700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16736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536192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55648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75104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94560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14016" y="28895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71016" y="320040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个 0.1×0.1 单位方格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029968" y="35295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 × 1.5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2.4×1.5 看成 24×15，再把单位缩回来。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两个因数一共几位小数，积通常就点出几位小数。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先估算范围，能帮我们避免小数点点错位置。 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 2.4×1.5，并说明为什么这样算。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先算 24×15=360。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原式中共有 2 位小数，所以积写成 3.60，也就是 3.6。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 2.4×1.5≈2.5×1.5≈3.75，结果 3.6 合理。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答案：3.6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85432" y="2139696"/>
            <a:ext cx="29718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96328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× 15 = 360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7635240" y="2999232"/>
            <a:ext cx="1417320" cy="420624"/>
          </a:xfrm>
          <a:prstGeom prst="chevron">
            <a:avLst/>
          </a:prstGeom>
          <a:solidFill>
            <a:srgbClr val="8C5A2B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08392" y="31181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共有2位小数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70648" y="363016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3.60 = 3.6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1：只看一个因数的小数位数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修正：要看两个因数一共几位小数。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2：乘小于1的数，结果一定更大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修正：乘小于1会变小；乘大于1才可能变大。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3：3.60 和 3.6 不同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修正：小数末尾的0不改变大小。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35824" y="2331720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45552" y="24414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65008" y="24414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84464" y="24414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03920" y="24414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23376" y="2441448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45552" y="26609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5008" y="26609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4464" y="26609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26609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23376" y="2660904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45552" y="288036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65008" y="288036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4464" y="288036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288036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23376" y="288036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45552" y="309981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65008" y="309981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84464" y="309981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03920" y="309981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23376" y="309981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99832" y="34107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439912" y="3995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0.8×4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16152" y="3392424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5336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64792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84248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03704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64792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84248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03704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5880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45336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64792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84248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03704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25880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545336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64792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84248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03704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280160" y="4471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920240" y="5056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答案提示：3.2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1.25×0.4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010912" y="3392424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40096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59552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79008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98464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120640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40096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559552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779008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98464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20640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0096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559552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79008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98464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120640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340096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559552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779008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98464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74920" y="4471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5715000" y="5056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答案提示：0.5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 3.9×2.1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8805672" y="3392424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15400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134856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354312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573768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793224" y="350215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15400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134856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354312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573768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9793224" y="372160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15400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34856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354312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73768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793224" y="394106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15400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134856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354312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573768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793224" y="416052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869680" y="4471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509760" y="50566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答案提示：约8左右，精算是8.19。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铺地砖面积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一块长方形地砖长 1.2 m，宽 0.8 m，面积是多少？10 块一共覆盖多少平方米？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参考答案：一块 0.96 平方米，10 块共 9.6 平方米。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30568" y="2075688"/>
            <a:ext cx="2743200" cy="2011680"/>
          </a:xfrm>
          <a:prstGeom prst="rect">
            <a:avLst/>
          </a:prstGeom>
          <a:solidFill>
            <a:srgbClr val="F8E7D1"/>
          </a:solidFill>
          <a:ln w="12700">
            <a:solidFill>
              <a:srgbClr val="8C5A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0568" y="2075688"/>
            <a:ext cx="2743200" cy="1335024"/>
          </a:xfrm>
          <a:prstGeom prst="rect">
            <a:avLst/>
          </a:prstGeom>
          <a:solidFill>
            <a:srgbClr val="FBE7B8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90688" y="41513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74536" y="29260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 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我会解释小数乘法与整数乘法的联系。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我知道用总小数位数确定积的小数点。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我会先估算，再检查积的大小。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48272" y="2295144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240487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77456" y="240487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96912" y="240487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16368" y="240487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35824" y="240487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262432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77456" y="262432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96912" y="262432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262432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35824" y="262432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284378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077456" y="284378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96912" y="284378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16368" y="284378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735824" y="2843784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58000" y="306324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077456" y="306324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96912" y="306324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16368" y="306324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35824" y="3063240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12280" y="3374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52360" y="39593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E7D1">
              <a:alpha val="78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E7D1">
              <a:alpha val="72000"/>
            </a:srgbClr>
          </a:solidFill>
          <a:ln w="12700">
            <a:solidFill>
              <a:srgbClr val="F8E7D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小数乘法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4 题小数乘法，至少 1 题写出估算过程。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2.4×1.5 画成面积模型，写一句算理说明。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5F87B2"/>
          </a:solidFill>
          <a:ln w="12700">
            <a:solidFill>
              <a:srgbClr val="5F87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预习下节：观察字母在数学中可以表示什么。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用字母表示（一）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754112" y="3136392"/>
            <a:ext cx="1316736" cy="138988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324612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83296" y="324612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02752" y="324612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22208" y="324612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41664" y="3246120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863840" y="346557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83296" y="346557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02752" y="346557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22208" y="346557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41664" y="3465576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0" y="368503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83296" y="368503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02752" y="368503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22208" y="368503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41664" y="3685032"/>
            <a:ext cx="219456" cy="219456"/>
          </a:xfrm>
          <a:prstGeom prst="rect">
            <a:avLst/>
          </a:prstGeom>
          <a:solidFill>
            <a:srgbClr val="F8E7D1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63840" y="390448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83296" y="390448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02752" y="390448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522208" y="390448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41664" y="3904488"/>
            <a:ext cx="219456" cy="219456"/>
          </a:xfrm>
          <a:prstGeom prst="rect">
            <a:avLst/>
          </a:prstGeom>
          <a:solidFill>
            <a:srgbClr val="F9F4E6"/>
          </a:solidFill>
          <a:ln w="12700">
            <a:solidFill>
              <a:srgbClr val="D9E4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18120" y="4215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乘法模型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458200" y="4800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估算先行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F8E7D1"/>
          </a:solidFill>
          <a:ln w="12700">
            <a:solidFill>
              <a:srgbClr val="F8E7D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C5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小数乘法</dc:title>
  <dc:subject>五年级数学 小数乘法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