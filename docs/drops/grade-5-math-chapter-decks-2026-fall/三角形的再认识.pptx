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时间建议：4分钟
教学提示：先用封面快速激活话题，问孩子这个单元和生活有什么联系；说明今天的九站学习路线，降低未知感
预期学生回应：学生能说出见过的小数、三角形、坐标或概率情境中的至少一个；学生明白本节会先诊断再讲解
节奏安排：双课时建议：封面到例题为第一课时，易错到作业为第二课时。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时间建议：6分钟
教学提示：目标区只讲关键词，不展开全部定义；诊断题按“口答-追问-标记薄弱点”的节奏走；如果 3 题中错 2 题以上，本章讲解速度要放慢并增加示范
预期学生回应：一定，因为至少有两条边相等。；不能，因为2+3≤6。；不可能，内角和只有180°。
节奏安排：前2分钟看目标，后4分钟做诊断并记录错因关键词。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时间建议：8分钟
教学提示：边指图边讲模型，至少追问一次“为什么”；让学生用自己的话复述本页三个要点；如果学生只会背结论，要回到图上重新解释
预期学生回应：学生能把图上的关键量读出来；学生能用1-2句话复述本章核心模型
节奏安排：这是第一课时的核心页，可多停留1-2分钟确保算理或图形关系真的理解。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时间建议：9分钟
教学提示：题目先让学生独立想30秒，再听完整示范；每一步都要对应回模型，不要只报算式；答案出来后马上做一次合理性检查
预期学生回应：学生能跟着说出关键步骤：先求第三个角：180°−35°−65°=80°。 / 三个角都小于 90°，所以按角分类是锐角三角形。 / 若三边信息未知，就不能直接判断是否等腰或等边。 ；最终答案应为：锐角三角形
节奏安排：前3分钟审题，4分钟示范，2分钟让学生复述并检查。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时间建议：7分钟
教学提示：不要只说“错了”，要让学生指出错在概念、步骤还是表达；每个误区都请学生自己改一次
预期学生回应：学生能说出错误原因；学生能把每个误区改成正确说法或正确做法
节奏安排：误区1和误区2必讲，误区3可根据诊断情况弹性压缩。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时间建议：8分钟
教学提示：每题先让学生独立作答1分钟，再口头说明方法；只在学生卡住时给提示，不要直接报答案；优先看学生是否用到本章关键词或模型
预期学生回应：等腰三角形；直角三角形；不能，因为 4+7≤12。
节奏安排：三题建议按照“基础 -&gt; 变式 -&gt; 表达解释”推进。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时间建议：7分钟
教学提示：先让学生口头说“要用哪一种方法”，再动笔；如果是开放题，重点评价解释是否清楚，而不是答案唯一
预期学生回应：三角形形状固定，不易变形；四边形不加斜撑容易晃动。；学生能把应用题和本章核心模型对应起来
节奏安排：有余力的学生可追问：如果数据变化，方法是否仍然有效？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时间建议：5分钟
教学提示：请学生对三条自检逐条打勾或打问号；遇到“半会”的点，要马上口头说出补救办法
预期学生回应：学生能说出至少一个本章最关键的方法；学生能指出自己最需要继续练的一个点
节奏安排：若是双课时结尾，可把这一页作为第二课时最后的回顾页。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时间建议：4分钟
教学提示：逐项确认作业要求，尤其提醒孩子把过程和解释写出来；下节衔接只说1-2个观察点，让预习有方向
预期学生回应：学生能复述今天最重要的一句话；学生知道下节将进入《小数乘法》
节奏安排：最后1分钟请学生口头总结，不再引入新知识点。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5583A"/>
          </a:solidFill>
          <a:ln w="12700">
            <a:solidFill>
              <a:srgbClr val="3558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562356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60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秋季 五年级数学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三角形的再认识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从“像三角形”走向“会分类、会判断、会应用”的图形观察。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246120"/>
            <a:ext cx="1920240" cy="475488"/>
          </a:xfrm>
          <a:prstGeom prst="roundRect">
            <a:avLst>
              <a:gd name="adj" fmla="val 23077"/>
            </a:avLst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80944" y="3246120"/>
            <a:ext cx="2194560" cy="475488"/>
          </a:xfrm>
          <a:prstGeom prst="roundRect">
            <a:avLst>
              <a:gd name="adj" fmla="val 23077"/>
            </a:avLst>
          </a:prstGeom>
          <a:solidFill>
            <a:srgbClr val="FBE6BF"/>
          </a:solidFill>
          <a:ln w="12700">
            <a:solidFill>
              <a:srgbClr val="FBE6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3649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建议用时：2课时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336499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适用：家长/教师一对一辅导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从边和角两个维度分类三角形，并理解稳定性与三角形三边关系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0292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九站结构：目标诊断 -&gt; 模型理解 -&gt; 例题 -&gt; 纠错 -&gt; 练习 -&gt; 应用 -&gt; 自检 -&gt; 作业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1890522"/>
            <a:ext cx="1152144" cy="1152144"/>
          </a:xfrm>
          <a:prstGeom prst="triangle">
            <a:avLst/>
          </a:prstGeom>
          <a:solidFill>
            <a:srgbClr val="E3F2DF"/>
          </a:solidFill>
          <a:ln w="12700">
            <a:solidFill>
              <a:srgbClr val="4977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2554" y="2975458"/>
            <a:ext cx="61447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5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锐角</a:t>
            </a:r>
            <a:endParaRPr lang="en-US" sz="1155" dirty="0"/>
          </a:p>
        </p:txBody>
      </p:sp>
      <p:sp>
        <p:nvSpPr>
          <p:cNvPr id="15" name="Shape 13"/>
          <p:cNvSpPr/>
          <p:nvPr/>
        </p:nvSpPr>
        <p:spPr>
          <a:xfrm>
            <a:off x="8391906" y="1698498"/>
            <a:ext cx="1248156" cy="1152144"/>
          </a:xfrm>
          <a:prstGeom prst="triangle">
            <a:avLst/>
          </a:prstGeom>
          <a:solidFill>
            <a:srgbClr val="FBE4B8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47150" y="2975458"/>
            <a:ext cx="576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5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直角</a:t>
            </a:r>
            <a:endParaRPr lang="en-US" sz="1155" dirty="0"/>
          </a:p>
        </p:txBody>
      </p:sp>
      <p:sp>
        <p:nvSpPr>
          <p:cNvPr id="17" name="Shape 15"/>
          <p:cNvSpPr/>
          <p:nvPr/>
        </p:nvSpPr>
        <p:spPr>
          <a:xfrm>
            <a:off x="9899294" y="1746504"/>
            <a:ext cx="1344168" cy="1104138"/>
          </a:xfrm>
          <a:prstGeom prst="triangle">
            <a:avLst/>
          </a:prstGeom>
          <a:solidFill>
            <a:srgbClr val="F8D8DA"/>
          </a:solidFill>
          <a:ln w="12700">
            <a:solidFill>
              <a:srgbClr val="D96C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02545" y="2975458"/>
            <a:ext cx="576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5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钝角</a:t>
            </a:r>
            <a:endParaRPr lang="en-US" sz="1155" dirty="0"/>
          </a:p>
        </p:txBody>
      </p:sp>
      <p:sp>
        <p:nvSpPr>
          <p:cNvPr id="19" name="Shape 17"/>
          <p:cNvSpPr/>
          <p:nvPr/>
        </p:nvSpPr>
        <p:spPr>
          <a:xfrm>
            <a:off x="6903720" y="3044952"/>
            <a:ext cx="42976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13448" y="3246120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边分类：等边 / 等腰 / 一般    角分类：锐角 / 直角 / 钝角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F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E3F2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E3F2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E3F2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E3F2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E3F2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E3F2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E3F2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E3F2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744200" y="5669280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029127" y="5729265"/>
            <a:ext cx="179954" cy="254935"/>
          </a:xfrm>
          <a:prstGeom prst="triangl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10800000">
            <a:off x="11029127" y="6104169"/>
            <a:ext cx="179954" cy="254935"/>
          </a:xfrm>
          <a:prstGeom prst="triangle">
            <a:avLst/>
          </a:prstGeom>
          <a:solidFill>
            <a:srgbClr val="49774D"/>
          </a:solidFill>
          <a:ln w="12700">
            <a:solidFill>
              <a:srgbClr val="49774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119104" y="5834238"/>
            <a:ext cx="0" cy="419892"/>
          </a:xfrm>
          <a:prstGeom prst="line">
            <a:avLst/>
          </a:prstGeom>
          <a:noFill/>
          <a:ln w="12700">
            <a:solidFill>
              <a:srgbClr val="3558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059119" y="5632704"/>
            <a:ext cx="1199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3F2DF">
              <a:alpha val="78000"/>
            </a:srgbClr>
          </a:solidFill>
          <a:ln w="12700">
            <a:solidFill>
              <a:srgbClr val="E3F2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3F2DF">
              <a:alpha val="72000"/>
            </a:srgbClr>
          </a:solidFill>
          <a:ln w="12700">
            <a:solidFill>
              <a:srgbClr val="E3F2D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三角形的再认识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学习目标与 5 分钟诊断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先看要学什么，再用 3 个小问题判断起点。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1463040"/>
            <a:ext cx="50292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1719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本章目标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14400" y="22402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21762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能按边和按角两种标准分类三角形。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14400" y="26974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26334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会判断三条线段能否围成三角形。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30906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能用三角形稳定性解释简单生活现象。 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989320" y="1463040"/>
            <a:ext cx="55321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719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5分钟诊断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309360" y="2148840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230428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等边三角形一定是等腰三角形吗？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73952" y="255117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答案提示：一定，因为至少有两条边相等。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227832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338328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2cm、3cm、6cm 能围成三角形吗？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73952" y="36301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答案提示：不能，因为2+3≤6。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4306824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446227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一个三角形有两个直角吗？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473952" y="470916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答案提示：不可能，内角和只有180°。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194560" y="4617720"/>
            <a:ext cx="1417320" cy="1234440"/>
          </a:xfrm>
          <a:prstGeom prst="triangle">
            <a:avLst/>
          </a:prstGeom>
          <a:solidFill>
            <a:srgbClr val="E3F2DF"/>
          </a:solidFill>
          <a:ln w="12700">
            <a:solidFill>
              <a:srgbClr val="49774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49040" y="4617720"/>
            <a:ext cx="1417320" cy="1234440"/>
          </a:xfrm>
          <a:prstGeom prst="triangle">
            <a:avLst/>
          </a:prstGeom>
          <a:solidFill>
            <a:srgbClr val="FBE7B8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26080" y="5989320"/>
            <a:ext cx="1417320" cy="1234440"/>
          </a:xfrm>
          <a:prstGeom prst="triangle">
            <a:avLst/>
          </a:prstGeom>
          <a:solidFill>
            <a:srgbClr val="F7D8DB"/>
          </a:solidFill>
          <a:ln w="12700">
            <a:solidFill>
              <a:srgbClr val="D96C7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018520" y="5998464"/>
            <a:ext cx="475488" cy="475488"/>
          </a:xfrm>
          <a:prstGeom prst="ellipse">
            <a:avLst/>
          </a:prstGeom>
          <a:solidFill>
            <a:srgbClr val="E3F2DF"/>
          </a:solidFill>
          <a:ln w="12700">
            <a:solidFill>
              <a:srgbClr val="49774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99205" y="6036503"/>
            <a:ext cx="114117" cy="161666"/>
          </a:xfrm>
          <a:prstGeom prst="triangl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11199205" y="6274247"/>
            <a:ext cx="114117" cy="161666"/>
          </a:xfrm>
          <a:prstGeom prst="triangle">
            <a:avLst/>
          </a:prstGeom>
          <a:solidFill>
            <a:srgbClr val="49774D"/>
          </a:solidFill>
          <a:ln w="12700">
            <a:solidFill>
              <a:srgbClr val="49774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256264" y="6103071"/>
            <a:ext cx="0" cy="266273"/>
          </a:xfrm>
          <a:prstGeom prst="line">
            <a:avLst/>
          </a:prstGeom>
          <a:noFill/>
          <a:ln w="12700">
            <a:solidFill>
              <a:srgbClr val="2537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218225" y="5961888"/>
            <a:ext cx="76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3F2DF">
              <a:alpha val="78000"/>
            </a:srgbClr>
          </a:solidFill>
          <a:ln w="12700">
            <a:solidFill>
              <a:srgbClr val="E3F2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3F2DF">
              <a:alpha val="72000"/>
            </a:srgbClr>
          </a:solidFill>
          <a:ln w="12700">
            <a:solidFill>
              <a:srgbClr val="E3F2D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三角形的再认识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核心概念与模型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按“边”和“角”给三角形建立双重地图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6235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15568" y="2558034"/>
            <a:ext cx="1152144" cy="1152144"/>
          </a:xfrm>
          <a:prstGeom prst="triangle">
            <a:avLst/>
          </a:prstGeom>
          <a:solidFill>
            <a:srgbClr val="E3F2DF"/>
          </a:solidFill>
          <a:ln w="12700">
            <a:solidFill>
              <a:srgbClr val="4977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84402" y="3642970"/>
            <a:ext cx="61447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5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锐角</a:t>
            </a:r>
            <a:endParaRPr lang="en-US" sz="1155" dirty="0"/>
          </a:p>
        </p:txBody>
      </p:sp>
      <p:sp>
        <p:nvSpPr>
          <p:cNvPr id="29" name="Shape 27"/>
          <p:cNvSpPr/>
          <p:nvPr/>
        </p:nvSpPr>
        <p:spPr>
          <a:xfrm>
            <a:off x="2603754" y="2366010"/>
            <a:ext cx="1248156" cy="1152144"/>
          </a:xfrm>
          <a:prstGeom prst="triangle">
            <a:avLst/>
          </a:prstGeom>
          <a:solidFill>
            <a:srgbClr val="FBE4B8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58998" y="3642970"/>
            <a:ext cx="576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5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直角</a:t>
            </a:r>
            <a:endParaRPr lang="en-US" sz="1155" dirty="0"/>
          </a:p>
        </p:txBody>
      </p:sp>
      <p:sp>
        <p:nvSpPr>
          <p:cNvPr id="31" name="Shape 29"/>
          <p:cNvSpPr/>
          <p:nvPr/>
        </p:nvSpPr>
        <p:spPr>
          <a:xfrm>
            <a:off x="4111142" y="2414016"/>
            <a:ext cx="1344168" cy="1104138"/>
          </a:xfrm>
          <a:prstGeom prst="triangle">
            <a:avLst/>
          </a:prstGeom>
          <a:solidFill>
            <a:srgbClr val="F8D8DA"/>
          </a:solidFill>
          <a:ln w="12700">
            <a:solidFill>
              <a:srgbClr val="D96C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14393" y="3642970"/>
            <a:ext cx="576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5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钝角</a:t>
            </a:r>
            <a:endParaRPr lang="en-US" sz="1155" dirty="0"/>
          </a:p>
        </p:txBody>
      </p:sp>
      <p:sp>
        <p:nvSpPr>
          <p:cNvPr id="33" name="Shape 31"/>
          <p:cNvSpPr/>
          <p:nvPr/>
        </p:nvSpPr>
        <p:spPr>
          <a:xfrm>
            <a:off x="1115568" y="3712464"/>
            <a:ext cx="47548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25296" y="3913632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边分类：等边 / 等腰 / 一般    角分类：锐角 / 直角 / 钝角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19088" y="1481328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1737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抓住这 3 个要点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720840" y="22768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03720" y="22128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按边分：等边、等腰、一般三角形。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720840" y="27340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03720" y="26700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按角分：锐角、直角、钝角三角形。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720840" y="31912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03720" y="31272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任意两边之和大于第三边，三角形才站得住。 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720840" y="3794760"/>
            <a:ext cx="4434840" cy="1325880"/>
          </a:xfrm>
          <a:prstGeom prst="roundRect">
            <a:avLst>
              <a:gd name="adj" fmla="val 8276"/>
            </a:avLst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31152" y="3977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教学提醒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931152" y="4224528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让学生先“说模型”，再“做题”。只给算法不够，要追问为什么能这样做。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3F2DF">
              <a:alpha val="78000"/>
            </a:srgbClr>
          </a:solidFill>
          <a:ln w="12700">
            <a:solidFill>
              <a:srgbClr val="E3F2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3F2DF">
              <a:alpha val="72000"/>
            </a:srgbClr>
          </a:solidFill>
          <a:ln w="12700">
            <a:solidFill>
              <a:srgbClr val="E3F2D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三角形的再认识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例题精讲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把模型落到一道典型题上，完整示范思路与书写。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5321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19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题目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32688" y="1993392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一个三角形两角分别是 35°、65°，它是什么三角形？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2688" y="27980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示范步骤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32688" y="3154680"/>
            <a:ext cx="164592" cy="164592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3174431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70432" y="3035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先求第三个角：180°−35°−65°=80°。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32688" y="3685032"/>
            <a:ext cx="164592" cy="164592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3704783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70432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三个角都小于 90°，所以按角分类是锐角三角形。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32688" y="4215384"/>
            <a:ext cx="164592" cy="164592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4235135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70432" y="4096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若三边信息未知，就不能直接判断是否等腰或等边。 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32688" y="5138928"/>
            <a:ext cx="4709160" cy="530352"/>
          </a:xfrm>
          <a:prstGeom prst="roundRect">
            <a:avLst>
              <a:gd name="adj" fmla="val 20690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5568" y="5303520"/>
            <a:ext cx="4352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答案：锐角三角形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355080" y="1481328"/>
            <a:ext cx="5175504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60920" y="2167128"/>
            <a:ext cx="2286000" cy="1965960"/>
          </a:xfrm>
          <a:prstGeom prst="triangle">
            <a:avLst/>
          </a:prstGeom>
          <a:solidFill>
            <a:srgbClr val="E3F2DF"/>
          </a:solidFill>
          <a:ln w="12700">
            <a:solidFill>
              <a:srgbClr val="4977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35387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35°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079992" y="35387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65°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321040" y="24140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3F2DF">
              <a:alpha val="78000"/>
            </a:srgbClr>
          </a:solidFill>
          <a:ln w="12700">
            <a:solidFill>
              <a:srgbClr val="E3F2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3F2DF">
              <a:alpha val="72000"/>
            </a:srgbClr>
          </a:solidFill>
          <a:ln w="12700">
            <a:solidFill>
              <a:srgbClr val="E3F2D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三角形的再认识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易错门诊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把常见错误摆出来，对照“为什么错、怎样改”。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64008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1810512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197510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1：看到“尖尖的”就叫锐角三角形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224942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修正：要看三个角的度数，不靠感觉。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" y="3108960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FCE7E9"/>
          </a:solidFill>
          <a:ln w="12700">
            <a:solidFill>
              <a:srgbClr val="FCE7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327355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2：等腰和直角不能同时出现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97280" y="354787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修正：可以是等腰直角三角形。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14400" y="4407408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457200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3：只要最长边短一点就能围成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97280" y="484632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修正：必须严格满足两边之和大于第三边。 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69480" y="1481328"/>
            <a:ext cx="4261104" cy="452628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45552" y="2644445"/>
            <a:ext cx="1009498" cy="1009498"/>
          </a:xfrm>
          <a:prstGeom prst="triangle">
            <a:avLst/>
          </a:prstGeom>
          <a:solidFill>
            <a:srgbClr val="E3F2DF"/>
          </a:solidFill>
          <a:ln w="12700">
            <a:solidFill>
              <a:srgbClr val="4977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81101" y="3595055"/>
            <a:ext cx="538399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2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锐角</a:t>
            </a:r>
            <a:endParaRPr lang="en-US" sz="1012" dirty="0"/>
          </a:p>
        </p:txBody>
      </p:sp>
      <p:sp>
        <p:nvSpPr>
          <p:cNvPr id="39" name="Shape 37"/>
          <p:cNvSpPr/>
          <p:nvPr/>
        </p:nvSpPr>
        <p:spPr>
          <a:xfrm>
            <a:off x="9149486" y="2476195"/>
            <a:ext cx="1093622" cy="1009498"/>
          </a:xfrm>
          <a:prstGeom prst="triangle">
            <a:avLst/>
          </a:prstGeom>
          <a:solidFill>
            <a:srgbClr val="FBE4B8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60748" y="3595055"/>
            <a:ext cx="504749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2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直角</a:t>
            </a:r>
            <a:endParaRPr lang="en-US" sz="1012" dirty="0"/>
          </a:p>
        </p:txBody>
      </p:sp>
      <p:sp>
        <p:nvSpPr>
          <p:cNvPr id="41" name="Shape 39"/>
          <p:cNvSpPr/>
          <p:nvPr/>
        </p:nvSpPr>
        <p:spPr>
          <a:xfrm>
            <a:off x="10470246" y="2518258"/>
            <a:ext cx="1177747" cy="967435"/>
          </a:xfrm>
          <a:prstGeom prst="triangle">
            <a:avLst/>
          </a:prstGeom>
          <a:solidFill>
            <a:srgbClr val="F8D8DA"/>
          </a:solidFill>
          <a:ln w="12700">
            <a:solidFill>
              <a:srgbClr val="D96C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23570" y="3595055"/>
            <a:ext cx="504749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2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钝角</a:t>
            </a:r>
            <a:endParaRPr lang="en-US" sz="1012" dirty="0"/>
          </a:p>
        </p:txBody>
      </p:sp>
      <p:sp>
        <p:nvSpPr>
          <p:cNvPr id="43" name="Text 41"/>
          <p:cNvSpPr/>
          <p:nvPr/>
        </p:nvSpPr>
        <p:spPr>
          <a:xfrm>
            <a:off x="7754112" y="4270248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提醒：分类前先看“标准”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3F2DF">
              <a:alpha val="78000"/>
            </a:srgbClr>
          </a:solidFill>
          <a:ln w="12700">
            <a:solidFill>
              <a:srgbClr val="E3F2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3F2DF">
              <a:alpha val="72000"/>
            </a:srgbClr>
          </a:solidFill>
          <a:ln w="12700">
            <a:solidFill>
              <a:srgbClr val="E3F2D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三角形的再认识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引导练习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一题一停顿，观察学生是否把模型迁移到新题。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2412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边长 5、5、8 的三角形按边分类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71600" y="3319272"/>
            <a:ext cx="1417320" cy="1234440"/>
          </a:xfrm>
          <a:prstGeom prst="triangle">
            <a:avLst/>
          </a:prstGeom>
          <a:solidFill>
            <a:srgbClr val="E3F2DF"/>
          </a:solidFill>
          <a:ln w="12700">
            <a:solidFill>
              <a:srgbClr val="4977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0" y="3319272"/>
            <a:ext cx="1417320" cy="1234440"/>
          </a:xfrm>
          <a:prstGeom prst="triangle">
            <a:avLst/>
          </a:prstGeom>
          <a:solidFill>
            <a:srgbClr val="FBE7B8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03120" y="4690872"/>
            <a:ext cx="1417320" cy="1234440"/>
          </a:xfrm>
          <a:prstGeom prst="triangle">
            <a:avLst/>
          </a:prstGeom>
          <a:solidFill>
            <a:srgbClr val="F7D8DB"/>
          </a:solidFill>
          <a:ln w="12700">
            <a:solidFill>
              <a:srgbClr val="D96C7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412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5214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答案提示：等腰三角形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1772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BFCFE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81888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 90°、55°、35° 按角分类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166360" y="3319272"/>
            <a:ext cx="1417320" cy="1234440"/>
          </a:xfrm>
          <a:prstGeom prst="triangle">
            <a:avLst/>
          </a:prstGeom>
          <a:solidFill>
            <a:srgbClr val="E3F2DF"/>
          </a:solidFill>
          <a:ln w="12700">
            <a:solidFill>
              <a:srgbClr val="4977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20840" y="3319272"/>
            <a:ext cx="1417320" cy="1234440"/>
          </a:xfrm>
          <a:prstGeom prst="triangle">
            <a:avLst/>
          </a:prstGeom>
          <a:solidFill>
            <a:srgbClr val="FBE7B8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4690872"/>
            <a:ext cx="1417320" cy="1234440"/>
          </a:xfrm>
          <a:prstGeom prst="triangle">
            <a:avLst/>
          </a:prstGeom>
          <a:solidFill>
            <a:srgbClr val="F7D8DB"/>
          </a:solidFill>
          <a:ln w="12700">
            <a:solidFill>
              <a:srgbClr val="D96C7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1888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4690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答案提示：直角三角形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41248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1364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3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61364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4、7、12 能否围成三角形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961120" y="3319272"/>
            <a:ext cx="1417320" cy="1234440"/>
          </a:xfrm>
          <a:prstGeom prst="triangle">
            <a:avLst/>
          </a:prstGeom>
          <a:solidFill>
            <a:srgbClr val="E3F2DF"/>
          </a:solidFill>
          <a:ln w="12700">
            <a:solidFill>
              <a:srgbClr val="49774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15600" y="3319272"/>
            <a:ext cx="1417320" cy="1234440"/>
          </a:xfrm>
          <a:prstGeom prst="triangle">
            <a:avLst/>
          </a:prstGeom>
          <a:solidFill>
            <a:srgbClr val="FBE7B8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92640" y="4690872"/>
            <a:ext cx="1417320" cy="1234440"/>
          </a:xfrm>
          <a:prstGeom prst="triangle">
            <a:avLst/>
          </a:prstGeom>
          <a:solidFill>
            <a:srgbClr val="F7D8DB"/>
          </a:solidFill>
          <a:ln w="12700">
            <a:solidFill>
              <a:srgbClr val="D96C7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1364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4166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答案提示：不能，因为 4+7≤12。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3F2DF">
              <a:alpha val="78000"/>
            </a:srgbClr>
          </a:solidFill>
          <a:ln w="12700">
            <a:solidFill>
              <a:srgbClr val="E3F2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3F2DF">
              <a:alpha val="72000"/>
            </a:srgbClr>
          </a:solidFill>
          <a:ln w="12700">
            <a:solidFill>
              <a:srgbClr val="E3F2D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三角形的再认识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挑战与应用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把知识带回真实情境，训练“会用”而不是“会背”。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搭稳书架支架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32688" y="2176272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做书架侧撑时，为什么工人常加一根斜杆形成三角形？请结合稳定性说明。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32688" y="4343400"/>
            <a:ext cx="4663440" cy="804672"/>
          </a:xfrm>
          <a:prstGeom prst="roundRect">
            <a:avLst>
              <a:gd name="adj" fmla="val 13636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4553712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参考答案：三角形形状固定，不易变形；四边形不加斜撑容易晃动。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82512" y="1481328"/>
            <a:ext cx="5148072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22008" y="2231136"/>
            <a:ext cx="2834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04888" y="3447288"/>
            <a:ext cx="2514600" cy="-960120"/>
          </a:xfrm>
          <a:prstGeom prst="line">
            <a:avLst/>
          </a:prstGeom>
          <a:noFill/>
          <a:ln w="12700">
            <a:solidFill>
              <a:srgbClr val="4977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04888" y="2505456"/>
            <a:ext cx="2514600" cy="941832"/>
          </a:xfrm>
          <a:prstGeom prst="line">
            <a:avLst/>
          </a:prstGeom>
          <a:noFill/>
          <a:ln w="12700">
            <a:solidFill>
              <a:srgbClr val="E7A3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37673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加斜撑后形成稳定三角形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3F2DF">
              <a:alpha val="78000"/>
            </a:srgbClr>
          </a:solidFill>
          <a:ln w="12700">
            <a:solidFill>
              <a:srgbClr val="E3F2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3F2DF">
              <a:alpha val="72000"/>
            </a:srgbClr>
          </a:solidFill>
          <a:ln w="12700">
            <a:solidFill>
              <a:srgbClr val="E3F2D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三角形的再认识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小结与自检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用“我会不会”收口，帮助学生形成清晰的复盘感。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我今天至少要带走这三件事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32688" y="219456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992" y="235915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238329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0" y="2359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我能分别说出按边分类和按角分类。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32688" y="315468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8992" y="331927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334341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71600" y="3319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我会用三边关系判断能否围成三角形。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32688" y="411480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8992" y="427939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430353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71600" y="4279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我知道生活中为什么常用三角形做支撑。 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172200" y="1481328"/>
            <a:ext cx="5358384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03720" y="2221992"/>
            <a:ext cx="1417320" cy="1234440"/>
          </a:xfrm>
          <a:prstGeom prst="triangle">
            <a:avLst/>
          </a:prstGeom>
          <a:solidFill>
            <a:srgbClr val="E3F2DF"/>
          </a:solidFill>
          <a:ln w="12700">
            <a:solidFill>
              <a:srgbClr val="49774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58200" y="2221992"/>
            <a:ext cx="1417320" cy="1234440"/>
          </a:xfrm>
          <a:prstGeom prst="triangle">
            <a:avLst/>
          </a:prstGeom>
          <a:solidFill>
            <a:srgbClr val="FBE7B8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35240" y="3593592"/>
            <a:ext cx="1417320" cy="1234440"/>
          </a:xfrm>
          <a:prstGeom prst="triangle">
            <a:avLst/>
          </a:prstGeom>
          <a:solidFill>
            <a:srgbClr val="F7D8DB"/>
          </a:solidFill>
          <a:ln w="12700">
            <a:solidFill>
              <a:srgbClr val="D96C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532180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自评口令：会说模型 -&gt; 会做题 -&gt; 会检查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3F2DF">
              <a:alpha val="78000"/>
            </a:srgbClr>
          </a:solidFill>
          <a:ln w="12700">
            <a:solidFill>
              <a:srgbClr val="E3F2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3F2DF">
              <a:alpha val="72000"/>
            </a:srgbClr>
          </a:solidFill>
          <a:ln w="12700">
            <a:solidFill>
              <a:srgbClr val="E3F2D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三角形的再认识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作业与下节衔接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收束本章，留下可以独立完成的练习和前置准备。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64922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课后任务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69264" y="2176272"/>
            <a:ext cx="164592" cy="164592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2196023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25296" y="206654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 3 个不同类型的三角形，并注明分类理由。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69264" y="3017520"/>
            <a:ext cx="164592" cy="164592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" y="3037271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25296" y="290779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2 题三角形三边关系判断题。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69264" y="3858768"/>
            <a:ext cx="164592" cy="164592"/>
          </a:xfrm>
          <a:prstGeom prst="ellipse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" y="3878519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25296" y="37490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预习下节：回忆整数乘法的意义，想一想 0.6×3 可以表示什么。 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333488" y="1481328"/>
            <a:ext cx="4197096" cy="4526280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1232" y="1755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下节衔接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571232" y="208483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小数乘法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7909560" y="3063240"/>
            <a:ext cx="1417320" cy="1234440"/>
          </a:xfrm>
          <a:prstGeom prst="triangle">
            <a:avLst/>
          </a:prstGeom>
          <a:solidFill>
            <a:srgbClr val="E3F2DF"/>
          </a:solidFill>
          <a:ln w="12700">
            <a:solidFill>
              <a:srgbClr val="49774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64040" y="3063240"/>
            <a:ext cx="1417320" cy="1234440"/>
          </a:xfrm>
          <a:prstGeom prst="triangle">
            <a:avLst/>
          </a:prstGeom>
          <a:solidFill>
            <a:srgbClr val="FBE7B8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41080" y="4434840"/>
            <a:ext cx="1417320" cy="1234440"/>
          </a:xfrm>
          <a:prstGeom prst="triangle">
            <a:avLst/>
          </a:prstGeom>
          <a:solidFill>
            <a:srgbClr val="F7D8DB"/>
          </a:solidFill>
          <a:ln w="12700">
            <a:solidFill>
              <a:srgbClr val="D96C7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89520" y="5212080"/>
            <a:ext cx="3639312" cy="438912"/>
          </a:xfrm>
          <a:prstGeom prst="roundRect">
            <a:avLst>
              <a:gd name="adj" fmla="val 25000"/>
            </a:avLst>
          </a:prstGeom>
          <a:solidFill>
            <a:srgbClr val="E3F2DF"/>
          </a:solidFill>
          <a:ln w="12700">
            <a:solidFill>
              <a:srgbClr val="E3F2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99248" y="534009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97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建议家长让孩子先口述“今天最重要的一句话”。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Airwallex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三角形的再认识</dc:title>
  <dc:subject>五年级数学 三角形的再认识</dc:subject>
  <dc:creator>Cursor GPT-5.4</dc:creator>
  <cp:lastModifiedBy>Cursor GPT-5.4</cp:lastModifiedBy>
  <cp:revision>1</cp:revision>
  <dcterms:created xsi:type="dcterms:W3CDTF">2026-08-25T10:21:31Z</dcterms:created>
  <dcterms:modified xsi:type="dcterms:W3CDTF">2026-08-25T10:21:31Z</dcterms:modified>
</cp:coreProperties>
</file>