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教学提示：先用封面快速激活话题，问孩子这个单元和生活有什么联系；说明今天的九站学习路线，降低未知感
预期学生回应：学生能说出见过的小数、三角形、坐标或概率情境中的至少一个；学生明白本节会先诊断再讲解
节奏安排：双课时建议：封面到例题为第一课时，易错到作业为第二课时。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时间建议：6分钟
教学提示：目标区只讲关键词，不展开全部定义；诊断题按“口答-追问-标记薄弱点”的节奏走；如果 3 题中错 2 题以上，本章讲解速度要放慢并增加示范
预期学生回应：是，因为12÷3=4。；不是，1既不是质数也不是合数。；1、2、4、8。
节奏安排：前2分钟看目标，后4分钟做诊断并记录错因关键词。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教学提示：边指图边讲模型，至少追问一次“为什么”；让学生用自己的话复述本页三个要点；如果学生只会背结论，要回到图上重新解释
预期学生回应：学生能把图上的关键量读出来；学生能用1-2句话复述本章核心模型
节奏安排：这是第一课时的核心页，可多停留1-2分钟确保算理或图形关系真的理解。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时间建议：9分钟
教学提示：题目先让学生独立想30秒，再听完整示范；每一步都要对应回模型，不要只报算式；答案出来后马上做一次合理性检查
预期学生回应：学生能跟着说出关键步骤：18 的因数成对找：1×18，2×9，3×6。 / 18 的因数有 1、2、3、6、9、18；24 的因数有 1、2、3、4、6、8、12、24。 / 共同因数中最大的是 6。 ；最终答案应为：18 的因数是 1、2、3、6、9、18；最大公因数是 6。
节奏安排：前3分钟审题，4分钟示范，2分钟让学生复述并检查。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教学提示：不要只说“错了”，要让学生指出错在概念、步骤还是表达；每个误区都请学生自己改一次
预期学生回应：学生能说出错误原因；学生能把每个误区改成正确说法或正确做法
节奏安排：误区1和误区2必讲，误区3可根据诊断情况弹性压缩。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教学提示：每题先让学生独立作答1分钟，再口头说明方法；只在学生卡住时给提示，不要直接报答案；优先看学生是否用到本章关键词或模型
预期学生回应：1、3、5、15；6、12、18、24、30；30
节奏安排：三题建议按照“基础 -&gt; 变式 -&gt; 表达解释”推进。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教学提示：先让学生口头说“要用哪一种方法”，再动笔；如果是开放题，重点评价解释是否清楚，而不是答案唯一
预期学生回应：最多分给 12 人。；学生能把应用题和本章核心模型对应起来
节奏安排：有余力的学生可追问：如果数据变化，方法是否仍然有效？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时间建议：5分钟
教学提示：请学生对三条自检逐条打勾或打问号；遇到“半会”的点，要马上口头说出补救办法
预期学生回应：学生能说出至少一个本章最关键的方法；学生能指出自己最需要继续练的一个点
节奏安排：若是双课时结尾，可把这一页作为第二课时最后的回顾页。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教学提示：逐项确认作业要求，尤其提醒孩子把过程和解释写出来；下节衔接只说1-2个观察点，让预习有方向
预期学生回应：学生能复述今天最重要的一句话；学生知道下节将进入《可能性》
节奏安排：最后1分钟请学生口头总结，不再引入新知识点。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94427"/>
          </a:solidFill>
          <a:ln w="12700">
            <a:solidFill>
              <a:srgbClr val="3944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562356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秋季 五年级数学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从乘法网格出发，看见数与数之间“能整除”的秘密道路。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32461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FBE6BF"/>
          </a:solidFill>
          <a:ln w="12700">
            <a:solidFill>
              <a:srgbClr val="FBE6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建议用时：2课时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3649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适用：家长/教师一对一辅导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理解倍数与因数、质数与合数，会找因数、倍数及公因数公倍数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九站结构：目标诊断 -&gt; 模型理解 -&gt; 例题 -&gt; 纠错 -&gt; 练习 -&gt; 应用 -&gt; 自检 -&gt; 作业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609344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670792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2121408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121408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2523744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2576413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23960" y="2523744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576413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34272" y="2944368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34272" y="2944368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94192" y="3218688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3262579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53728" y="3218688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3262579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E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E9EF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E9EF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E9EF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E9EF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E9EF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E9EF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E9EF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E9EF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44200" y="56692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29127" y="5729265"/>
            <a:ext cx="179954" cy="254935"/>
          </a:xfrm>
          <a:prstGeom prst="triangl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10800000">
            <a:off x="11029127" y="6104169"/>
            <a:ext cx="179954" cy="254935"/>
          </a:xfrm>
          <a:prstGeom prst="triangle">
            <a:avLst/>
          </a:prstGeom>
          <a:solidFill>
            <a:srgbClr val="4C5B35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19104" y="5834238"/>
            <a:ext cx="0" cy="419892"/>
          </a:xfrm>
          <a:prstGeom prst="line">
            <a:avLst/>
          </a:prstGeom>
          <a:noFill/>
          <a:ln w="12700">
            <a:solidFill>
              <a:srgbClr val="39442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059119" y="5632704"/>
            <a:ext cx="119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9EFD9">
              <a:alpha val="78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9EFD9">
              <a:alpha val="72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学习目标与 5 分钟诊断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先看要学什么，再用 3 个小问题判断起点。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会找一个数的因数和倍数。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能区分质数、合数和 1 的特殊性。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090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会在简单情境中找公因数或公倍数。 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1463040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5分钟诊断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3042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12 是 3 的倍数吗？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3952" y="25511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答案提示：是，因为12÷3=4。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27832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 是质数吗？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36301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答案提示：不是，1既不是质数也不是合数。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2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8 的因数有哪些？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73952" y="47091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答案提示：1、2、4、8。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48840" y="4645152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72968" y="4791456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72968" y="4852904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429000" y="5303520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29000" y="5303520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68880" y="5705856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0" y="5758525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931920" y="5705856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0" y="5758525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142232" y="6126480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42232" y="6126480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02152" y="6400800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02152" y="6444691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361688" y="6400800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61688" y="6444691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313432" y="67299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因数有限，倍数通常无限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1018520" y="5998464"/>
            <a:ext cx="475488" cy="475488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199205" y="6036503"/>
            <a:ext cx="114117" cy="161666"/>
          </a:xfrm>
          <a:prstGeom prst="triangl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10800000">
            <a:off x="11199205" y="6274247"/>
            <a:ext cx="114117" cy="161666"/>
          </a:xfrm>
          <a:prstGeom prst="triangle">
            <a:avLst/>
          </a:prstGeom>
          <a:solidFill>
            <a:srgbClr val="4C5B35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256264" y="6103071"/>
            <a:ext cx="0" cy="266273"/>
          </a:xfrm>
          <a:prstGeom prst="line">
            <a:avLst/>
          </a:prstGeom>
          <a:noFill/>
          <a:ln w="12700">
            <a:solidFill>
              <a:srgbClr val="25374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218225" y="5961888"/>
            <a:ext cx="76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9EFD9">
              <a:alpha val="78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9EFD9">
              <a:alpha val="72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核心概念与模型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用乘法表倒着看：因数是“能分尽”，倍数是“扩出来”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2728" y="2130552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76856" y="2276856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76856" y="2338304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2888" y="2788920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32888" y="2788920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72768" y="3191256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72768" y="3243925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35808" y="3191256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808" y="3243925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46120" y="3611880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3611880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06040" y="3886200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3930091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465576" y="3886200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65576" y="3930091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19088" y="1481328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抓住这 3 个要点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720840" y="22768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22128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a×b=c，则 a 和 b 是 c 的因数，c 是 a 和 b 的倍数。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720840" y="27340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2670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找因数可成对找，找倍数可按顺序列举。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720840" y="31912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质数只有 1 和它本身两个因数；合数有两个以上因数。 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720840" y="379476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教学提醒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31152" y="4224528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让学生先“说模型”，再“做题”。只给算法不够，要追问为什么能这样做。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9EFD9">
              <a:alpha val="78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9EFD9">
              <a:alpha val="72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例题精讲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把模型落到一道典型题上，完整示范思路与书写。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1993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找出 18 的所有因数，并判断 18 和 24 的最大公因数。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示范步骤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7443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的因数成对找：1×18，2×9，3×6。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685032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0478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的因数有 1、2、3、6、9、18；24 的因数有 1、2、3、4、6、8、12、24。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4215384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5135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共同因数中最大的是 6。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2688" y="5138928"/>
            <a:ext cx="4709160" cy="530352"/>
          </a:xfrm>
          <a:prstGeom prst="roundRect">
            <a:avLst>
              <a:gd name="adj" fmla="val 20690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035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答案：18 的因数是 1、2、3、6、9、18；最大公因数是 6。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517550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9440" y="2167128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73568" y="2313432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73568" y="2374880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229600" y="2825496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2825496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3227832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3280501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732520" y="3227832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32520" y="3280501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942832" y="3648456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42832" y="3648456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02752" y="3922776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02752" y="3966667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162288" y="3922776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62288" y="3966667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9EFD9">
              <a:alpha val="78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9EFD9">
              <a:alpha val="72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易错门诊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把常见错误摆出来，对照“为什么错、怎样改”。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810512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97510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1：把倍数和因数说反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224942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修正：先看除法能否整除，再判断谁是谁的倍数。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CE7E9"/>
          </a:solidFill>
          <a:ln w="12700">
            <a:solidFill>
              <a:srgbClr val="FCE7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27355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2：因数可以无限列下去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54787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修正：一个数的因数有限，倍数通常无限。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407408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572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3：1 是最小质数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84632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修正：最小质数是 2。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1481328"/>
            <a:ext cx="4261104" cy="452628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45552" y="228600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0" y="2432304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2493752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25712" y="2944368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25712" y="2944368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65592" y="3346704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65592" y="3399373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28632" y="3346704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28632" y="3399373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838944" y="3767328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38944" y="3767328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98864" y="4041648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98864" y="4085539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058400" y="4041648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0" y="4085539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010144" y="4370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因数有限，倍数通常无限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9EFD9">
              <a:alpha val="78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9EFD9">
              <a:alpha val="72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引导练习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一题一停顿，观察学生是否把模型迁移到新题。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 15 的因数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25880" y="3346704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0008" y="3493008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0008" y="3554456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06040" y="4005072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06040" y="4005072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45920" y="4407408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0" y="4460077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108960" y="4407408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4460077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19272" y="4828032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19272" y="4828032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9192" y="5102352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79192" y="5146243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38728" y="5102352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38728" y="5146243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90472" y="5431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因数有限，倍数通常无限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412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5214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答案提示：1、3、5、15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1772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481888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写出 6 的前 5 个倍数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120640" y="3346704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44768" y="3493008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44768" y="3554456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0" y="4005072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0" y="4005072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40680" y="4407408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40680" y="4460077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903720" y="4407408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03720" y="4460077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114032" y="4828032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14032" y="4828032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73952" y="5102352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73952" y="5146243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333488" y="5102352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33488" y="5146243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285232" y="5431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因数有限，倍数通常无限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81888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4690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答案提示：6、12、18、24、30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41248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1364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3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861364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和 15 的最小公倍数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8915400" y="3346704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39528" y="3493008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39528" y="3554456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0195560" y="4005072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195560" y="4005072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235440" y="4407408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35440" y="4460077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10698480" y="4407408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698480" y="4460077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0908792" y="4828032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908792" y="4828032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268712" y="5102352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268712" y="5146243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11128248" y="5102352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128248" y="5146243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9079992" y="5431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因数有限，倍数通常无限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61364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74166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答案提示：30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9EFD9">
              <a:alpha val="78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9EFD9">
              <a:alpha val="72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挑战与应用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把知识带回真实情境，训练“会用”而不是“会背”。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排队发物资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" y="217627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本练习册和 36 支铅笔平均分给若干名学生，且每人分到的本数和支数都一样，最多可分给多少人？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2688" y="434340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5537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参考答案：最多分给 12 人。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1481328"/>
            <a:ext cx="514807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6288" y="2157984"/>
            <a:ext cx="29260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96328" y="23500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24本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76488" y="23500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36支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96328" y="29900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÷12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476488" y="29900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÷12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96328" y="3630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2本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476488" y="3630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3支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9EFD9">
              <a:alpha val="78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9EFD9">
              <a:alpha val="72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小结与自检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用“我会不会”收口，帮助学生形成清晰的复盘感。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我今天至少要带走这三件事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219456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38329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我能从乘法关系说清倍数与因数。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2688" y="315468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3192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34341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我能正确判断质数、合数和1。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114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793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30353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我会在问题中找公因数或公倍数。 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14813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2249424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82128" y="2395728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82128" y="2457176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38160" y="2907792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2907792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78040" y="3310128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3362797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41080" y="3310128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41080" y="3362797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51392" y="3730752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51392" y="3730752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11312" y="4005072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11312" y="4048963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070848" y="4005072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70848" y="4048963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022592" y="4334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因数有限，倍数通常无限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629400" y="5321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自评口令：会说模型 -&gt; 会做题 -&gt; 会检查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9EFD9">
              <a:alpha val="78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9EFD9">
              <a:alpha val="72000"/>
            </a:srgbClr>
          </a:solidFill>
          <a:ln w="12700">
            <a:solidFill>
              <a:srgbClr val="E9EF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倍数与因数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作业与下节衔接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收束本章，留下可以独立完成的练习和前置准备。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9264" y="2176272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19602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2066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3 题找因数/倍数和 1 题公倍数应用题。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9264" y="3017520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303727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29077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画一棵因数树或质因数分解树，整理 24 或 36。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9264" y="3858768"/>
            <a:ext cx="164592" cy="164592"/>
          </a:xfrm>
          <a:prstGeom prst="ellipse">
            <a:avLst/>
          </a:prstGeom>
          <a:solidFill>
            <a:srgbClr val="C78F2B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3878519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预习下节：想一想“可能”“一定”“不可能”有什么区别。 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33488" y="1481328"/>
            <a:ext cx="4197096" cy="452628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下节衔接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71232" y="20848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863840" y="3090672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87968" y="3236976"/>
            <a:ext cx="512064" cy="512064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87968" y="3298424"/>
            <a:ext cx="512064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44000" y="3749040"/>
            <a:ext cx="-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0" y="3749040"/>
            <a:ext cx="640080" cy="438912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83880" y="4151376"/>
            <a:ext cx="438912" cy="438912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4204045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46920" y="4151376"/>
            <a:ext cx="438912" cy="438912"/>
          </a:xfrm>
          <a:prstGeom prst="ellipse">
            <a:avLst/>
          </a:prstGeom>
          <a:solidFill>
            <a:srgbClr val="E9EFD9"/>
          </a:solidFill>
          <a:ln w="12700">
            <a:solidFill>
              <a:srgbClr val="4C5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46920" y="4204045"/>
            <a:ext cx="438912" cy="33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857232" y="4572000"/>
            <a:ext cx="-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57232" y="4572000"/>
            <a:ext cx="384048" cy="310896"/>
          </a:xfrm>
          <a:prstGeom prst="line">
            <a:avLst/>
          </a:prstGeom>
          <a:noFill/>
          <a:ln w="12700">
            <a:solidFill>
              <a:srgbClr val="4C5B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17152" y="4846320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17152" y="4890211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076688" y="4846320"/>
            <a:ext cx="365760" cy="365760"/>
          </a:xfrm>
          <a:prstGeom prst="ellipse">
            <a:avLst/>
          </a:prstGeom>
          <a:solidFill>
            <a:srgbClr val="FBE4B8"/>
          </a:solidFill>
          <a:ln w="12700">
            <a:solidFill>
              <a:srgbClr val="C78F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76688" y="4890211"/>
            <a:ext cx="36576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028432" y="5175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因数有限，倍数通常无限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589520" y="5212080"/>
            <a:ext cx="3639312" cy="438912"/>
          </a:xfrm>
          <a:prstGeom prst="roundRect">
            <a:avLst>
              <a:gd name="adj" fmla="val 25000"/>
            </a:avLst>
          </a:prstGeom>
          <a:solidFill>
            <a:srgbClr val="E9EFD9"/>
          </a:solidFill>
          <a:ln w="12700">
            <a:solidFill>
              <a:srgbClr val="E9EF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99248" y="53400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C5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建议家长让孩子先口述“今天最重要的一句话”。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Airwallex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倍数与因数</dc:title>
  <dc:subject>五年级数学 倍数与因数</dc:subject>
  <dc:creator>Cursor GPT-5.4</dc:creator>
  <cp:lastModifiedBy>Cursor GPT-5.4</cp:lastModifiedBy>
  <cp:revision>1</cp:revision>
  <dcterms:created xsi:type="dcterms:W3CDTF">2026-08-25T10:21:31Z</dcterms:created>
  <dcterms:modified xsi:type="dcterms:W3CDTF">2026-08-25T10:21:31Z</dcterms:modified>
</cp:coreProperties>
</file>