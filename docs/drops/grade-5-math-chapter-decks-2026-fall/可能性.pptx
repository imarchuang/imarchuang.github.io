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时间建议：3分钟
教学提示：先用封面快速激活话题，问孩子这个单元和生活有什么联系；说明今天的九站学习路线，降低未知感
预期学生回应：学生能说出见过的小数、三角形、坐标或概率情境中的至少一个；学生明白本节会先诊断再讲解
节奏安排：单课时建议：封面控制在3分钟内，尽快进入诊断。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时间建议：6分钟
教学提示：目标区只讲关键词，不展开全部定义；诊断题按“口答-追问-标记薄弱点”的节奏走；如果 3 题中错 2 题以上，本章讲解速度要放慢并增加示范
预期学生回应：不可能。；3/6，也就是1/2。；更可能。
节奏安排：前2分钟看目标，后4分钟做诊断并记录错因关键词。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时间建议：8分钟
教学提示：边指图边讲模型，至少追问一次“为什么”；让学生用自己的话复述本页三个要点；如果学生只会背结论，要回到图上重新解释
预期学生回应：学生能把图上的关键量读出来；学生能用1-2句话复述本章核心模型
节奏安排：单课时中本页不要超过8分钟，讲完立即进入例题。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时间建议：9分钟
教学提示：题目先让学生独立想30秒，再听完整示范；每一步都要对应回模型，不要只报算式；答案出来后马上做一次合理性检查
预期学生回应：学生能跟着说出关键步骤：总球数是 6 个。 / 红球数量最多，所以最可能摸到红球。 / 摸到红球的可能性是 3/6，也就是 1/2。 ；最终答案应为：红球最可能；摸到红球的可能性是 1/2。
节奏安排：前3分钟审题，4分钟示范，2分钟让学生复述并检查。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时间建议：7分钟
教学提示：不要只说“错了”，要让学生指出错在概念、步骤还是表达；每个误区都请学生自己改一次
预期学生回应：学生能说出错误原因；学生能把每个误区改成正确说法或正确做法
节奏安排：误区1和误区2必讲，误区3可根据诊断情况弹性压缩。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时间建议：8分钟
教学提示：每题先让学生独立作答1分钟，再口头说明方法；只在学生卡住时给提示，不要直接报答案；优先看学生是否用到本章关键词或模型
预期学生回应：一样可能。；2/8=1/4；可能性是1/2。
节奏安排：三题建议按照“基础 -&gt; 变式 -&gt; 表达解释”推进。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时间建议：7分钟
教学提示：先让学生口头说“要用哪一种方法”，再动笔；如果是开放题，重点评价解释是否清楚，而不是答案唯一
预期学生回应：前者公平，后者不公平，乙更容易赢。；学生能把应用题和本章核心模型对应起来
节奏安排：有余力的学生可追问：如果数据变化，方法是否仍然有效？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时间建议：5分钟
教学提示：请学生对三条自检逐条打勾或打问号；遇到“半会”的点，要马上口头说出补救办法
预期学生回应：学生能说出至少一个本章最关键的方法；学生能指出自己最需要继续练的一个点
节奏安排：若是双课时结尾，可把这一页作为第二课时最后的回顾页。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时间建议：4分钟
教学提示：逐项确认作业要求，尤其提醒孩子把过程和解释写出来；下节衔接只说1-2个观察点，让预习有方向
预期学生回应：学生能复述今天最重要的一句话；学生知道下节将进入《总复习》
节奏安排：最后1分钟请学生口头总结，不再引入新知识点。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D3A4C"/>
          </a:solidFill>
          <a:ln w="12700">
            <a:solidFill>
              <a:srgbClr val="7D3A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685800"/>
            <a:ext cx="5623560" cy="5440680"/>
          </a:xfrm>
          <a:prstGeom prst="roundRect">
            <a:avLst>
              <a:gd name="adj" fmla="val 20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9601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A04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秋季 五年级数学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325880"/>
            <a:ext cx="4892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可能性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33172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不是“猜一猜”，而是有依据地比较哪件事更可能发生。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914400" y="3246120"/>
            <a:ext cx="1920240" cy="475488"/>
          </a:xfrm>
          <a:prstGeom prst="roundRect">
            <a:avLst>
              <a:gd name="adj" fmla="val 23077"/>
            </a:avLst>
          </a:prstGeom>
          <a:solidFill>
            <a:srgbClr val="F8DFE8"/>
          </a:solidFill>
          <a:ln w="12700">
            <a:solidFill>
              <a:srgbClr val="F8DF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80944" y="3246120"/>
            <a:ext cx="2194560" cy="475488"/>
          </a:xfrm>
          <a:prstGeom prst="roundRect">
            <a:avLst>
              <a:gd name="adj" fmla="val 23077"/>
            </a:avLst>
          </a:prstGeom>
          <a:solidFill>
            <a:srgbClr val="FBE6BF"/>
          </a:solidFill>
          <a:ln w="12700">
            <a:solidFill>
              <a:srgbClr val="FBE6B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36499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04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建议用时：1课时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63240" y="3364992"/>
            <a:ext cx="20299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适用：家长/教师一对一辅导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97764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理解事件发生的可能大小，会用语言、分数或简单统计描述随机事件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502920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576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九站结构：目标诊断 -&gt; 模型理解 -&gt; 例题 -&gt; 纠错 -&gt; 练习 -&gt; 应用 -&gt; 自检 -&gt; 作业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589520" y="1600200"/>
            <a:ext cx="1737360" cy="1965960"/>
          </a:xfrm>
          <a:prstGeom prst="arc">
            <a:avLst/>
          </a:prstGeom>
          <a:solidFill>
            <a:srgbClr val="F8DFE8"/>
          </a:solidFill>
          <a:ln w="12700">
            <a:solidFill>
              <a:srgbClr val="A04E6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73568" y="1463040"/>
            <a:ext cx="1005840" cy="256032"/>
          </a:xfrm>
          <a:prstGeom prst="rect">
            <a:avLst/>
          </a:prstGeom>
          <a:solidFill>
            <a:srgbClr val="A04E62"/>
          </a:solidFill>
          <a:ln w="12700">
            <a:solidFill>
              <a:srgbClr val="A04E6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09560" y="2057400"/>
            <a:ext cx="237744" cy="237744"/>
          </a:xfrm>
          <a:prstGeom prst="ellipse">
            <a:avLst/>
          </a:prstGeom>
          <a:solidFill>
            <a:srgbClr val="D85062"/>
          </a:solidFill>
          <a:ln w="12700">
            <a:solidFill>
              <a:srgbClr val="D8506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1965960"/>
            <a:ext cx="237744" cy="237744"/>
          </a:xfrm>
          <a:prstGeom prst="ellipse">
            <a:avLst/>
          </a:prstGeom>
          <a:solidFill>
            <a:srgbClr val="D85062"/>
          </a:solidFill>
          <a:ln w="12700">
            <a:solidFill>
              <a:srgbClr val="D8506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32520" y="2286000"/>
            <a:ext cx="237744" cy="237744"/>
          </a:xfrm>
          <a:prstGeom prst="ellipse">
            <a:avLst/>
          </a:prstGeom>
          <a:solidFill>
            <a:srgbClr val="D85062"/>
          </a:solidFill>
          <a:ln w="12700">
            <a:solidFill>
              <a:srgbClr val="D8506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92440" y="2560320"/>
            <a:ext cx="237744" cy="237744"/>
          </a:xfrm>
          <a:prstGeom prst="ellipse">
            <a:avLst/>
          </a:prstGeom>
          <a:solidFill>
            <a:srgbClr val="F2C84B"/>
          </a:solidFill>
          <a:ln w="12700">
            <a:solidFill>
              <a:srgbClr val="F2C84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49640" y="2697480"/>
            <a:ext cx="237744" cy="237744"/>
          </a:xfrm>
          <a:prstGeom prst="ellipse">
            <a:avLst/>
          </a:prstGeom>
          <a:solidFill>
            <a:srgbClr val="F2C84B"/>
          </a:solidFill>
          <a:ln w="12700">
            <a:solidFill>
              <a:srgbClr val="F2C84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0" y="3063240"/>
            <a:ext cx="237744" cy="237744"/>
          </a:xfrm>
          <a:prstGeom prst="ellipse">
            <a:avLst/>
          </a:prstGeom>
          <a:solidFill>
            <a:srgbClr val="A04E62"/>
          </a:solidFill>
          <a:ln w="12700">
            <a:solidFill>
              <a:srgbClr val="A04E6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69680" y="1673352"/>
            <a:ext cx="1143000" cy="150876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79992" y="185623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3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红 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079992" y="224028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D7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黄 2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079992" y="262432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04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蓝 1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8D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F8DF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F8DFE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F8DF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F8DF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F8DF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F8DF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F8DF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F8DF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4F86C6"/>
          </a:solidFill>
          <a:ln w="12700">
            <a:solidFill>
              <a:srgbClr val="4F86C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8DFE8"/>
          </a:solidFill>
          <a:ln w="12700">
            <a:solidFill>
              <a:srgbClr val="F8DF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8DFE8"/>
          </a:solidFill>
          <a:ln w="12700">
            <a:solidFill>
              <a:srgbClr val="F8DF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8DFE8"/>
          </a:solidFill>
          <a:ln w="12700">
            <a:solidFill>
              <a:srgbClr val="F8DF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8DFE8"/>
          </a:solidFill>
          <a:ln w="12700">
            <a:solidFill>
              <a:srgbClr val="F8DF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8DFE8"/>
          </a:solidFill>
          <a:ln w="12700">
            <a:solidFill>
              <a:srgbClr val="F8DFE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8DFE8"/>
          </a:solidFill>
          <a:ln w="12700">
            <a:solidFill>
              <a:srgbClr val="F8DF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8DFE8"/>
          </a:solidFill>
          <a:ln w="12700">
            <a:solidFill>
              <a:srgbClr val="F8DF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8DFE8"/>
          </a:solidFill>
          <a:ln w="12700">
            <a:solidFill>
              <a:srgbClr val="F8DF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744200" y="5669280"/>
            <a:ext cx="749808" cy="7498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8DFE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029127" y="5729265"/>
            <a:ext cx="179954" cy="254935"/>
          </a:xfrm>
          <a:prstGeom prst="triangle">
            <a:avLst/>
          </a:prstGeom>
          <a:solidFill>
            <a:srgbClr val="4F86C6"/>
          </a:solidFill>
          <a:ln w="12700">
            <a:solidFill>
              <a:srgbClr val="4F86C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rot="10800000">
            <a:off x="11029127" y="6104169"/>
            <a:ext cx="179954" cy="254935"/>
          </a:xfrm>
          <a:prstGeom prst="triangle">
            <a:avLst/>
          </a:prstGeom>
          <a:solidFill>
            <a:srgbClr val="A04E62"/>
          </a:solidFill>
          <a:ln w="12700">
            <a:solidFill>
              <a:srgbClr val="A04E6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1119104" y="5834238"/>
            <a:ext cx="0" cy="419892"/>
          </a:xfrm>
          <a:prstGeom prst="line">
            <a:avLst/>
          </a:prstGeom>
          <a:noFill/>
          <a:ln w="12700">
            <a:solidFill>
              <a:srgbClr val="7D3A4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1059119" y="5632704"/>
            <a:ext cx="11996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F8DFE8">
              <a:alpha val="78000"/>
            </a:srgbClr>
          </a:solidFill>
          <a:ln w="12700">
            <a:solidFill>
              <a:srgbClr val="F8DFE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F8DFE8">
              <a:alpha val="72000"/>
            </a:srgbClr>
          </a:solidFill>
          <a:ln w="12700">
            <a:solidFill>
              <a:srgbClr val="F8DFE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A04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可能性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学习目标与 5 分钟诊断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先看要学什么，再用 3 个小问题判断起点。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4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4F86C6"/>
          </a:solidFill>
          <a:ln w="12700">
            <a:solidFill>
              <a:srgbClr val="4F86C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1463040"/>
            <a:ext cx="50292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171907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A04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本章目标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14400" y="2240280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7280" y="217627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会用“一定、可能、不可能”描述事件。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914400" y="2697480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263347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能比较等可能情境下不同结果的大小。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914400" y="3154680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97280" y="3090672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会用简单试验结果支持判断。 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5989320" y="1463040"/>
            <a:ext cx="553212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1719072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A04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5分钟诊断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6309360" y="2148840"/>
            <a:ext cx="4846320" cy="822960"/>
          </a:xfrm>
          <a:prstGeom prst="roundRect">
            <a:avLst>
              <a:gd name="adj" fmla="val 13333"/>
            </a:avLst>
          </a:prstGeom>
          <a:solidFill>
            <a:srgbClr val="F8DFE8"/>
          </a:solidFill>
          <a:ln w="12700">
            <a:solidFill>
              <a:srgbClr val="F8DF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73952" y="2304288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太阳明天从西边升起，属于哪类事件？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473952" y="2551176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978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答案提示：不可能。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309360" y="3227832"/>
            <a:ext cx="4846320" cy="822960"/>
          </a:xfrm>
          <a:prstGeom prst="roundRect">
            <a:avLst>
              <a:gd name="adj" fmla="val 13333"/>
            </a:avLst>
          </a:prstGeom>
          <a:solidFill>
            <a:srgbClr val="FBEED1"/>
          </a:solidFill>
          <a:ln w="12700">
            <a:solidFill>
              <a:srgbClr val="FBEED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73952" y="3383280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掷一个标准骰子，掷出奇数的可能性是多少？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473952" y="3630168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978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答案提示：3/6，也就是1/2。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309360" y="4306824"/>
            <a:ext cx="4846320" cy="822960"/>
          </a:xfrm>
          <a:prstGeom prst="roundRect">
            <a:avLst>
              <a:gd name="adj" fmla="val 13333"/>
            </a:avLst>
          </a:prstGeom>
          <a:solidFill>
            <a:srgbClr val="F8DFE8"/>
          </a:solidFill>
          <a:ln w="12700">
            <a:solidFill>
              <a:srgbClr val="F8DFE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73952" y="4462272"/>
            <a:ext cx="4526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袋中红球 4 个、蓝球 1 个，摸到红球更可能吗？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473952" y="4709160"/>
            <a:ext cx="4526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978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答案提示：更可能。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2697480" y="4727448"/>
            <a:ext cx="1737360" cy="1965960"/>
          </a:xfrm>
          <a:prstGeom prst="arc">
            <a:avLst/>
          </a:prstGeom>
          <a:solidFill>
            <a:srgbClr val="F8DFE8"/>
          </a:solidFill>
          <a:ln w="12700">
            <a:solidFill>
              <a:srgbClr val="A04E6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081528" y="4590288"/>
            <a:ext cx="1005840" cy="256032"/>
          </a:xfrm>
          <a:prstGeom prst="rect">
            <a:avLst/>
          </a:prstGeom>
          <a:solidFill>
            <a:srgbClr val="A04E62"/>
          </a:solidFill>
          <a:ln w="12700">
            <a:solidFill>
              <a:srgbClr val="A04E6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017520" y="5184648"/>
            <a:ext cx="237744" cy="237744"/>
          </a:xfrm>
          <a:prstGeom prst="ellipse">
            <a:avLst/>
          </a:prstGeom>
          <a:solidFill>
            <a:srgbClr val="D85062"/>
          </a:solidFill>
          <a:ln w="12700">
            <a:solidFill>
              <a:srgbClr val="D8506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429000" y="5093208"/>
            <a:ext cx="237744" cy="237744"/>
          </a:xfrm>
          <a:prstGeom prst="ellipse">
            <a:avLst/>
          </a:prstGeom>
          <a:solidFill>
            <a:srgbClr val="D85062"/>
          </a:solidFill>
          <a:ln w="12700">
            <a:solidFill>
              <a:srgbClr val="D8506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840480" y="5413248"/>
            <a:ext cx="237744" cy="237744"/>
          </a:xfrm>
          <a:prstGeom prst="ellipse">
            <a:avLst/>
          </a:prstGeom>
          <a:solidFill>
            <a:srgbClr val="D85062"/>
          </a:solidFill>
          <a:ln w="12700">
            <a:solidFill>
              <a:srgbClr val="D8506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00400" y="5687568"/>
            <a:ext cx="237744" cy="237744"/>
          </a:xfrm>
          <a:prstGeom prst="ellipse">
            <a:avLst/>
          </a:prstGeom>
          <a:solidFill>
            <a:srgbClr val="F2C84B"/>
          </a:solidFill>
          <a:ln w="12700">
            <a:solidFill>
              <a:srgbClr val="F2C84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657600" y="5824728"/>
            <a:ext cx="237744" cy="237744"/>
          </a:xfrm>
          <a:prstGeom prst="ellipse">
            <a:avLst/>
          </a:prstGeom>
          <a:solidFill>
            <a:srgbClr val="F2C84B"/>
          </a:solidFill>
          <a:ln w="12700">
            <a:solidFill>
              <a:srgbClr val="F2C84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520440" y="6190488"/>
            <a:ext cx="237744" cy="237744"/>
          </a:xfrm>
          <a:prstGeom prst="ellipse">
            <a:avLst/>
          </a:prstGeom>
          <a:solidFill>
            <a:srgbClr val="A04E62"/>
          </a:solidFill>
          <a:ln w="12700">
            <a:solidFill>
              <a:srgbClr val="A04E62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018520" y="5998464"/>
            <a:ext cx="475488" cy="475488"/>
          </a:xfrm>
          <a:prstGeom prst="ellipse">
            <a:avLst/>
          </a:prstGeom>
          <a:solidFill>
            <a:srgbClr val="F8DFE8"/>
          </a:solidFill>
          <a:ln w="12700">
            <a:solidFill>
              <a:srgbClr val="A04E6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199205" y="6036503"/>
            <a:ext cx="114117" cy="161666"/>
          </a:xfrm>
          <a:prstGeom prst="triangle">
            <a:avLst/>
          </a:prstGeom>
          <a:solidFill>
            <a:srgbClr val="4F86C6"/>
          </a:solidFill>
          <a:ln w="12700">
            <a:solidFill>
              <a:srgbClr val="4F86C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rot="10800000">
            <a:off x="11199205" y="6274247"/>
            <a:ext cx="114117" cy="161666"/>
          </a:xfrm>
          <a:prstGeom prst="triangle">
            <a:avLst/>
          </a:prstGeom>
          <a:solidFill>
            <a:srgbClr val="A04E62"/>
          </a:solidFill>
          <a:ln w="12700">
            <a:solidFill>
              <a:srgbClr val="A04E6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256264" y="6103071"/>
            <a:ext cx="0" cy="266273"/>
          </a:xfrm>
          <a:prstGeom prst="line">
            <a:avLst/>
          </a:prstGeom>
          <a:noFill/>
          <a:ln w="12700">
            <a:solidFill>
              <a:srgbClr val="25374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1218225" y="5961888"/>
            <a:ext cx="7607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F8DFE8">
              <a:alpha val="78000"/>
            </a:srgbClr>
          </a:solidFill>
          <a:ln w="12700">
            <a:solidFill>
              <a:srgbClr val="F8DFE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F8DFE8">
              <a:alpha val="72000"/>
            </a:srgbClr>
          </a:solidFill>
          <a:ln w="12700">
            <a:solidFill>
              <a:srgbClr val="F8DFE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A04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可能性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核心概念与模型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可能性大小来自“结果数比较”，不是凭感觉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4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4F86C6"/>
          </a:solidFill>
          <a:ln w="12700">
            <a:solidFill>
              <a:srgbClr val="4F86C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1481328"/>
            <a:ext cx="562356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801368" y="2267712"/>
            <a:ext cx="1737360" cy="1965960"/>
          </a:xfrm>
          <a:prstGeom prst="arc">
            <a:avLst/>
          </a:prstGeom>
          <a:solidFill>
            <a:srgbClr val="F8DFE8"/>
          </a:solidFill>
          <a:ln w="12700">
            <a:solidFill>
              <a:srgbClr val="A04E6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185416" y="2130552"/>
            <a:ext cx="1005840" cy="256032"/>
          </a:xfrm>
          <a:prstGeom prst="rect">
            <a:avLst/>
          </a:prstGeom>
          <a:solidFill>
            <a:srgbClr val="A04E62"/>
          </a:solidFill>
          <a:ln w="12700">
            <a:solidFill>
              <a:srgbClr val="A04E6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21408" y="2724912"/>
            <a:ext cx="237744" cy="237744"/>
          </a:xfrm>
          <a:prstGeom prst="ellipse">
            <a:avLst/>
          </a:prstGeom>
          <a:solidFill>
            <a:srgbClr val="D85062"/>
          </a:solidFill>
          <a:ln w="12700">
            <a:solidFill>
              <a:srgbClr val="D8506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532888" y="2633472"/>
            <a:ext cx="237744" cy="237744"/>
          </a:xfrm>
          <a:prstGeom prst="ellipse">
            <a:avLst/>
          </a:prstGeom>
          <a:solidFill>
            <a:srgbClr val="D85062"/>
          </a:solidFill>
          <a:ln w="12700">
            <a:solidFill>
              <a:srgbClr val="D8506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44368" y="2953512"/>
            <a:ext cx="237744" cy="237744"/>
          </a:xfrm>
          <a:prstGeom prst="ellipse">
            <a:avLst/>
          </a:prstGeom>
          <a:solidFill>
            <a:srgbClr val="D85062"/>
          </a:solidFill>
          <a:ln w="12700">
            <a:solidFill>
              <a:srgbClr val="D8506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04288" y="3227832"/>
            <a:ext cx="237744" cy="237744"/>
          </a:xfrm>
          <a:prstGeom prst="ellipse">
            <a:avLst/>
          </a:prstGeom>
          <a:solidFill>
            <a:srgbClr val="F2C84B"/>
          </a:solidFill>
          <a:ln w="12700">
            <a:solidFill>
              <a:srgbClr val="F2C84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61488" y="3364992"/>
            <a:ext cx="237744" cy="237744"/>
          </a:xfrm>
          <a:prstGeom prst="ellipse">
            <a:avLst/>
          </a:prstGeom>
          <a:solidFill>
            <a:srgbClr val="F2C84B"/>
          </a:solidFill>
          <a:ln w="12700">
            <a:solidFill>
              <a:srgbClr val="F2C84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624328" y="3730752"/>
            <a:ext cx="237744" cy="237744"/>
          </a:xfrm>
          <a:prstGeom prst="ellipse">
            <a:avLst/>
          </a:prstGeom>
          <a:solidFill>
            <a:srgbClr val="A04E62"/>
          </a:solidFill>
          <a:ln w="12700">
            <a:solidFill>
              <a:srgbClr val="A04E6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81528" y="2340864"/>
            <a:ext cx="1143000" cy="150876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252374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3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红 3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3291840" y="290779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D7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黄 2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3291840" y="329184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04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蓝 1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6419088" y="1481328"/>
            <a:ext cx="512064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20840" y="17373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A04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抓住这 3 个要点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6720840" y="2276856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03720" y="221284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先判断事件属于一定、可能还是不可能。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6720840" y="2734056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03720" y="267004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在等可能的前提下，想要的结果越多，可能性越大。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6720840" y="3191256"/>
            <a:ext cx="109728" cy="1097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03720" y="3127248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试验次数越多，统计结果通常越接近理论判断。 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6720840" y="3794760"/>
            <a:ext cx="4434840" cy="1325880"/>
          </a:xfrm>
          <a:prstGeom prst="roundRect">
            <a:avLst>
              <a:gd name="adj" fmla="val 8276"/>
            </a:avLst>
          </a:prstGeom>
          <a:solidFill>
            <a:srgbClr val="F8DFE8"/>
          </a:solidFill>
          <a:ln w="12700">
            <a:solidFill>
              <a:srgbClr val="F8DF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31152" y="39776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A04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教学提醒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931152" y="4224528"/>
            <a:ext cx="4041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让学生先“说模型”，再“做题”。只给算法不够，要追问为什么能这样做。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F8DFE8">
              <a:alpha val="78000"/>
            </a:srgbClr>
          </a:solidFill>
          <a:ln w="12700">
            <a:solidFill>
              <a:srgbClr val="F8DFE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F8DFE8">
              <a:alpha val="72000"/>
            </a:srgbClr>
          </a:solidFill>
          <a:ln w="12700">
            <a:solidFill>
              <a:srgbClr val="F8DFE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A04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可能性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例题精讲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把模型落到一道典型题上，完整示范思路与书写。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4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4F86C6"/>
          </a:solidFill>
          <a:ln w="12700">
            <a:solidFill>
              <a:srgbClr val="4F86C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1481328"/>
            <a:ext cx="553212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17190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A04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题目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32688" y="1993392"/>
            <a:ext cx="49560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袋中有红球 3 个、黄球 2 个、蓝球 1 个，摸 1 个球，哪种颜色最可能？摸到红球的可能性是多少？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32688" y="279806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04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示范步骤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932688" y="3154680"/>
            <a:ext cx="164592" cy="164592"/>
          </a:xfrm>
          <a:prstGeom prst="ellipse">
            <a:avLst/>
          </a:prstGeom>
          <a:solidFill>
            <a:srgbClr val="4F86C6"/>
          </a:solidFill>
          <a:ln w="12700">
            <a:solidFill>
              <a:srgbClr val="4F86C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32688" y="3174431"/>
            <a:ext cx="164592" cy="12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70432" y="30358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总球数是 6 个。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932688" y="3685032"/>
            <a:ext cx="164592" cy="164592"/>
          </a:xfrm>
          <a:prstGeom prst="ellipse">
            <a:avLst/>
          </a:prstGeom>
          <a:solidFill>
            <a:srgbClr val="4F86C6"/>
          </a:solidFill>
          <a:ln w="12700">
            <a:solidFill>
              <a:srgbClr val="4F86C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32688" y="3704783"/>
            <a:ext cx="164592" cy="12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70432" y="35661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红球数量最多，所以最可能摸到红球。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32688" y="4215384"/>
            <a:ext cx="164592" cy="164592"/>
          </a:xfrm>
          <a:prstGeom prst="ellipse">
            <a:avLst/>
          </a:prstGeom>
          <a:solidFill>
            <a:srgbClr val="4F86C6"/>
          </a:solidFill>
          <a:ln w="12700">
            <a:solidFill>
              <a:srgbClr val="4F86C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2688" y="4235135"/>
            <a:ext cx="164592" cy="12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170432" y="409651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摸到红球的可能性是 3/6，也就是 1/2。 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932688" y="5138928"/>
            <a:ext cx="4709160" cy="530352"/>
          </a:xfrm>
          <a:prstGeom prst="roundRect">
            <a:avLst>
              <a:gd name="adj" fmla="val 20690"/>
            </a:avLst>
          </a:prstGeom>
          <a:solidFill>
            <a:srgbClr val="FBEED1"/>
          </a:solidFill>
          <a:ln w="12700">
            <a:solidFill>
              <a:srgbClr val="FBEED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15568" y="5303520"/>
            <a:ext cx="4352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答案：红球最可能；摸到红球的可能性是 1/2。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355080" y="1481328"/>
            <a:ext cx="5175504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98080" y="2304288"/>
            <a:ext cx="1737360" cy="1965960"/>
          </a:xfrm>
          <a:prstGeom prst="arc">
            <a:avLst/>
          </a:prstGeom>
          <a:solidFill>
            <a:srgbClr val="F8DFE8"/>
          </a:solidFill>
          <a:ln w="12700">
            <a:solidFill>
              <a:srgbClr val="A04E6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82128" y="2167128"/>
            <a:ext cx="1005840" cy="256032"/>
          </a:xfrm>
          <a:prstGeom prst="rect">
            <a:avLst/>
          </a:prstGeom>
          <a:solidFill>
            <a:srgbClr val="A04E62"/>
          </a:solidFill>
          <a:ln w="12700">
            <a:solidFill>
              <a:srgbClr val="A04E6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818120" y="2761488"/>
            <a:ext cx="237744" cy="237744"/>
          </a:xfrm>
          <a:prstGeom prst="ellipse">
            <a:avLst/>
          </a:prstGeom>
          <a:solidFill>
            <a:srgbClr val="D85062"/>
          </a:solidFill>
          <a:ln w="12700">
            <a:solidFill>
              <a:srgbClr val="D8506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229600" y="2670048"/>
            <a:ext cx="237744" cy="237744"/>
          </a:xfrm>
          <a:prstGeom prst="ellipse">
            <a:avLst/>
          </a:prstGeom>
          <a:solidFill>
            <a:srgbClr val="D85062"/>
          </a:solidFill>
          <a:ln w="12700">
            <a:solidFill>
              <a:srgbClr val="D8506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641080" y="2990088"/>
            <a:ext cx="237744" cy="237744"/>
          </a:xfrm>
          <a:prstGeom prst="ellipse">
            <a:avLst/>
          </a:prstGeom>
          <a:solidFill>
            <a:srgbClr val="D85062"/>
          </a:solidFill>
          <a:ln w="12700">
            <a:solidFill>
              <a:srgbClr val="D8506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001000" y="3264408"/>
            <a:ext cx="237744" cy="237744"/>
          </a:xfrm>
          <a:prstGeom prst="ellipse">
            <a:avLst/>
          </a:prstGeom>
          <a:solidFill>
            <a:srgbClr val="F2C84B"/>
          </a:solidFill>
          <a:ln w="12700">
            <a:solidFill>
              <a:srgbClr val="F2C84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458200" y="3401568"/>
            <a:ext cx="237744" cy="237744"/>
          </a:xfrm>
          <a:prstGeom prst="ellipse">
            <a:avLst/>
          </a:prstGeom>
          <a:solidFill>
            <a:srgbClr val="F2C84B"/>
          </a:solidFill>
          <a:ln w="12700">
            <a:solidFill>
              <a:srgbClr val="F2C84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321040" y="3767328"/>
            <a:ext cx="237744" cy="237744"/>
          </a:xfrm>
          <a:prstGeom prst="ellipse">
            <a:avLst/>
          </a:prstGeom>
          <a:solidFill>
            <a:srgbClr val="A04E62"/>
          </a:solidFill>
          <a:ln w="12700">
            <a:solidFill>
              <a:srgbClr val="A04E6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778240" y="2377440"/>
            <a:ext cx="1143000" cy="150876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988552" y="256032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238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红 3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8988552" y="294436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D7A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黄 2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8988552" y="332841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04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蓝 1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F8DFE8">
              <a:alpha val="78000"/>
            </a:srgbClr>
          </a:solidFill>
          <a:ln w="12700">
            <a:solidFill>
              <a:srgbClr val="F8DFE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F8DFE8">
              <a:alpha val="72000"/>
            </a:srgbClr>
          </a:solidFill>
          <a:ln w="12700">
            <a:solidFill>
              <a:srgbClr val="F8DFE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A04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可能性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易错门诊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把常见错误摆出来，对照“为什么错、怎样改”。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4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4F86C6"/>
          </a:solidFill>
          <a:ln w="12700">
            <a:solidFill>
              <a:srgbClr val="4F86C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1481328"/>
            <a:ext cx="64008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400" y="1810512"/>
            <a:ext cx="5870448" cy="987552"/>
          </a:xfrm>
          <a:prstGeom prst="roundRect">
            <a:avLst>
              <a:gd name="adj" fmla="val 11111"/>
            </a:avLst>
          </a:prstGeom>
          <a:solidFill>
            <a:srgbClr val="F8DFE8"/>
          </a:solidFill>
          <a:ln w="12700">
            <a:solidFill>
              <a:srgbClr val="F8DF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1975104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误区 1：摸过红球后，下次一定不是红球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1097280" y="2249424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04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修正：若每次放回，下一次可能性不变。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914400" y="3108960"/>
            <a:ext cx="5870448" cy="987552"/>
          </a:xfrm>
          <a:prstGeom prst="roundRect">
            <a:avLst>
              <a:gd name="adj" fmla="val 11111"/>
            </a:avLst>
          </a:prstGeom>
          <a:solidFill>
            <a:srgbClr val="FCE7E9"/>
          </a:solidFill>
          <a:ln w="12700">
            <a:solidFill>
              <a:srgbClr val="FCE7E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3273552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误区 2：结果少就一定不可能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097280" y="3547872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96C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修正：结果少可能只是“较小”，不是“不可能”。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14400" y="4407408"/>
            <a:ext cx="5870448" cy="987552"/>
          </a:xfrm>
          <a:prstGeom prst="roundRect">
            <a:avLst>
              <a:gd name="adj" fmla="val 11111"/>
            </a:avLst>
          </a:prstGeom>
          <a:solidFill>
            <a:srgbClr val="F8DFE8"/>
          </a:solidFill>
          <a:ln w="12700">
            <a:solidFill>
              <a:srgbClr val="F8DF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97280" y="4572000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误区 3：试验 3 次都没出现，就是不会出现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097280" y="4846320"/>
            <a:ext cx="5468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04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修正：样本太少，不能代替长期规律。 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7269480" y="1481328"/>
            <a:ext cx="4261104" cy="4526280"/>
          </a:xfrm>
          <a:prstGeom prst="roundRect">
            <a:avLst>
              <a:gd name="adj" fmla="val 2575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94192" y="2368296"/>
            <a:ext cx="1737360" cy="1965960"/>
          </a:xfrm>
          <a:prstGeom prst="arc">
            <a:avLst/>
          </a:prstGeom>
          <a:solidFill>
            <a:srgbClr val="F8DFE8"/>
          </a:solidFill>
          <a:ln w="12700">
            <a:solidFill>
              <a:srgbClr val="A04E6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778240" y="2231136"/>
            <a:ext cx="1005840" cy="256032"/>
          </a:xfrm>
          <a:prstGeom prst="rect">
            <a:avLst/>
          </a:prstGeom>
          <a:solidFill>
            <a:srgbClr val="A04E62"/>
          </a:solidFill>
          <a:ln w="12700">
            <a:solidFill>
              <a:srgbClr val="A04E6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714232" y="2825496"/>
            <a:ext cx="237744" cy="237744"/>
          </a:xfrm>
          <a:prstGeom prst="ellipse">
            <a:avLst/>
          </a:prstGeom>
          <a:solidFill>
            <a:srgbClr val="D85062"/>
          </a:solidFill>
          <a:ln w="12700">
            <a:solidFill>
              <a:srgbClr val="D8506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125712" y="2734056"/>
            <a:ext cx="237744" cy="237744"/>
          </a:xfrm>
          <a:prstGeom prst="ellipse">
            <a:avLst/>
          </a:prstGeom>
          <a:solidFill>
            <a:srgbClr val="D85062"/>
          </a:solidFill>
          <a:ln w="12700">
            <a:solidFill>
              <a:srgbClr val="D8506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537192" y="3054096"/>
            <a:ext cx="237744" cy="237744"/>
          </a:xfrm>
          <a:prstGeom prst="ellipse">
            <a:avLst/>
          </a:prstGeom>
          <a:solidFill>
            <a:srgbClr val="D85062"/>
          </a:solidFill>
          <a:ln w="12700">
            <a:solidFill>
              <a:srgbClr val="D8506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897112" y="3328416"/>
            <a:ext cx="237744" cy="237744"/>
          </a:xfrm>
          <a:prstGeom prst="ellipse">
            <a:avLst/>
          </a:prstGeom>
          <a:solidFill>
            <a:srgbClr val="F2C84B"/>
          </a:solidFill>
          <a:ln w="12700">
            <a:solidFill>
              <a:srgbClr val="F2C84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354312" y="3465576"/>
            <a:ext cx="237744" cy="237744"/>
          </a:xfrm>
          <a:prstGeom prst="ellipse">
            <a:avLst/>
          </a:prstGeom>
          <a:solidFill>
            <a:srgbClr val="F2C84B"/>
          </a:solidFill>
          <a:ln w="12700">
            <a:solidFill>
              <a:srgbClr val="F2C84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217152" y="3831336"/>
            <a:ext cx="237744" cy="237744"/>
          </a:xfrm>
          <a:prstGeom prst="ellipse">
            <a:avLst/>
          </a:prstGeom>
          <a:solidFill>
            <a:srgbClr val="A04E62"/>
          </a:solidFill>
          <a:ln w="12700">
            <a:solidFill>
              <a:srgbClr val="A04E62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F8DFE8">
              <a:alpha val="78000"/>
            </a:srgbClr>
          </a:solidFill>
          <a:ln w="12700">
            <a:solidFill>
              <a:srgbClr val="F8DFE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F8DFE8">
              <a:alpha val="72000"/>
            </a:srgbClr>
          </a:solidFill>
          <a:ln w="12700">
            <a:solidFill>
              <a:srgbClr val="F8DFE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A04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可能性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引导练习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一题一停顿，观察学生是否把模型迁移到新题。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4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4F86C6"/>
          </a:solidFill>
          <a:ln w="12700">
            <a:solidFill>
              <a:srgbClr val="4F86C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22960" y="1664208"/>
            <a:ext cx="3246120" cy="41605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4128" y="19019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04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练习 1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024128" y="2304288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掷硬币 1 次，正反面谁更可能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874520" y="3429000"/>
            <a:ext cx="1737360" cy="1965960"/>
          </a:xfrm>
          <a:prstGeom prst="arc">
            <a:avLst/>
          </a:prstGeom>
          <a:solidFill>
            <a:srgbClr val="F8DFE8"/>
          </a:solidFill>
          <a:ln w="12700">
            <a:solidFill>
              <a:srgbClr val="A04E6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58568" y="3291840"/>
            <a:ext cx="1005840" cy="256032"/>
          </a:xfrm>
          <a:prstGeom prst="rect">
            <a:avLst/>
          </a:prstGeom>
          <a:solidFill>
            <a:srgbClr val="A04E62"/>
          </a:solidFill>
          <a:ln w="12700">
            <a:solidFill>
              <a:srgbClr val="A04E6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194560" y="3886200"/>
            <a:ext cx="237744" cy="237744"/>
          </a:xfrm>
          <a:prstGeom prst="ellipse">
            <a:avLst/>
          </a:prstGeom>
          <a:solidFill>
            <a:srgbClr val="D85062"/>
          </a:solidFill>
          <a:ln w="12700">
            <a:solidFill>
              <a:srgbClr val="D8506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06040" y="3794760"/>
            <a:ext cx="237744" cy="237744"/>
          </a:xfrm>
          <a:prstGeom prst="ellipse">
            <a:avLst/>
          </a:prstGeom>
          <a:solidFill>
            <a:srgbClr val="D85062"/>
          </a:solidFill>
          <a:ln w="12700">
            <a:solidFill>
              <a:srgbClr val="D8506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17520" y="4114800"/>
            <a:ext cx="237744" cy="237744"/>
          </a:xfrm>
          <a:prstGeom prst="ellipse">
            <a:avLst/>
          </a:prstGeom>
          <a:solidFill>
            <a:srgbClr val="D85062"/>
          </a:solidFill>
          <a:ln w="12700">
            <a:solidFill>
              <a:srgbClr val="D8506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77440" y="4389120"/>
            <a:ext cx="237744" cy="237744"/>
          </a:xfrm>
          <a:prstGeom prst="ellipse">
            <a:avLst/>
          </a:prstGeom>
          <a:solidFill>
            <a:srgbClr val="F2C84B"/>
          </a:solidFill>
          <a:ln w="12700">
            <a:solidFill>
              <a:srgbClr val="F2C84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34640" y="4526280"/>
            <a:ext cx="237744" cy="237744"/>
          </a:xfrm>
          <a:prstGeom prst="ellipse">
            <a:avLst/>
          </a:prstGeom>
          <a:solidFill>
            <a:srgbClr val="F2C84B"/>
          </a:solidFill>
          <a:ln w="12700">
            <a:solidFill>
              <a:srgbClr val="F2C84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697480" y="4892040"/>
            <a:ext cx="237744" cy="237744"/>
          </a:xfrm>
          <a:prstGeom prst="ellipse">
            <a:avLst/>
          </a:prstGeom>
          <a:solidFill>
            <a:srgbClr val="A04E62"/>
          </a:solidFill>
          <a:ln w="12700">
            <a:solidFill>
              <a:srgbClr val="A04E6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24128" y="5074920"/>
            <a:ext cx="2816352" cy="457200"/>
          </a:xfrm>
          <a:prstGeom prst="roundRect">
            <a:avLst>
              <a:gd name="adj" fmla="val 24000"/>
            </a:avLst>
          </a:prstGeom>
          <a:solidFill>
            <a:srgbClr val="F8DFE8"/>
          </a:solidFill>
          <a:ln w="12700">
            <a:solidFill>
              <a:srgbClr val="F8DF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52144" y="521208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04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答案提示：一样可能。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617720" y="1664208"/>
            <a:ext cx="3246120" cy="4160520"/>
          </a:xfrm>
          <a:prstGeom prst="roundRect">
            <a:avLst>
              <a:gd name="adj" fmla="val 3380"/>
            </a:avLst>
          </a:prstGeom>
          <a:solidFill>
            <a:srgbClr val="FBFCFE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18888" y="19019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04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练习 2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4818888" y="2304288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转盘 8 等份中红色 2 份，转到红色概率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5669280" y="3429000"/>
            <a:ext cx="1737360" cy="1965960"/>
          </a:xfrm>
          <a:prstGeom prst="arc">
            <a:avLst/>
          </a:prstGeom>
          <a:solidFill>
            <a:srgbClr val="F8DFE8"/>
          </a:solidFill>
          <a:ln w="12700">
            <a:solidFill>
              <a:srgbClr val="A04E6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53328" y="3291840"/>
            <a:ext cx="1005840" cy="256032"/>
          </a:xfrm>
          <a:prstGeom prst="rect">
            <a:avLst/>
          </a:prstGeom>
          <a:solidFill>
            <a:srgbClr val="A04E62"/>
          </a:solidFill>
          <a:ln w="12700">
            <a:solidFill>
              <a:srgbClr val="A04E6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989320" y="3886200"/>
            <a:ext cx="237744" cy="237744"/>
          </a:xfrm>
          <a:prstGeom prst="ellipse">
            <a:avLst/>
          </a:prstGeom>
          <a:solidFill>
            <a:srgbClr val="D85062"/>
          </a:solidFill>
          <a:ln w="12700">
            <a:solidFill>
              <a:srgbClr val="D8506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00800" y="3794760"/>
            <a:ext cx="237744" cy="237744"/>
          </a:xfrm>
          <a:prstGeom prst="ellipse">
            <a:avLst/>
          </a:prstGeom>
          <a:solidFill>
            <a:srgbClr val="D85062"/>
          </a:solidFill>
          <a:ln w="12700">
            <a:solidFill>
              <a:srgbClr val="D8506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12280" y="4114800"/>
            <a:ext cx="237744" cy="237744"/>
          </a:xfrm>
          <a:prstGeom prst="ellipse">
            <a:avLst/>
          </a:prstGeom>
          <a:solidFill>
            <a:srgbClr val="D85062"/>
          </a:solidFill>
          <a:ln w="12700">
            <a:solidFill>
              <a:srgbClr val="D85062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72200" y="4389120"/>
            <a:ext cx="237744" cy="237744"/>
          </a:xfrm>
          <a:prstGeom prst="ellipse">
            <a:avLst/>
          </a:prstGeom>
          <a:solidFill>
            <a:srgbClr val="F2C84B"/>
          </a:solidFill>
          <a:ln w="12700">
            <a:solidFill>
              <a:srgbClr val="F2C84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629400" y="4526280"/>
            <a:ext cx="237744" cy="237744"/>
          </a:xfrm>
          <a:prstGeom prst="ellipse">
            <a:avLst/>
          </a:prstGeom>
          <a:solidFill>
            <a:srgbClr val="F2C84B"/>
          </a:solidFill>
          <a:ln w="12700">
            <a:solidFill>
              <a:srgbClr val="F2C84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492240" y="4892040"/>
            <a:ext cx="237744" cy="237744"/>
          </a:xfrm>
          <a:prstGeom prst="ellipse">
            <a:avLst/>
          </a:prstGeom>
          <a:solidFill>
            <a:srgbClr val="A04E62"/>
          </a:solidFill>
          <a:ln w="12700">
            <a:solidFill>
              <a:srgbClr val="A04E62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818888" y="5074920"/>
            <a:ext cx="2816352" cy="457200"/>
          </a:xfrm>
          <a:prstGeom prst="roundRect">
            <a:avLst>
              <a:gd name="adj" fmla="val 24000"/>
            </a:avLst>
          </a:prstGeom>
          <a:solidFill>
            <a:srgbClr val="F8DFE8"/>
          </a:solidFill>
          <a:ln w="12700">
            <a:solidFill>
              <a:srgbClr val="F8DF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946904" y="521208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04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答案提示：2/8=1/4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8412480" y="1664208"/>
            <a:ext cx="3246120" cy="41605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613648" y="1901952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A04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练习 3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8613648" y="2304288"/>
            <a:ext cx="281635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盒中 5 白 5 黑，摸到白球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9464040" y="3429000"/>
            <a:ext cx="1737360" cy="1965960"/>
          </a:xfrm>
          <a:prstGeom prst="arc">
            <a:avLst/>
          </a:prstGeom>
          <a:solidFill>
            <a:srgbClr val="F8DFE8"/>
          </a:solidFill>
          <a:ln w="12700">
            <a:solidFill>
              <a:srgbClr val="A04E62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848088" y="3291840"/>
            <a:ext cx="1005840" cy="256032"/>
          </a:xfrm>
          <a:prstGeom prst="rect">
            <a:avLst/>
          </a:prstGeom>
          <a:solidFill>
            <a:srgbClr val="A04E62"/>
          </a:solidFill>
          <a:ln w="12700">
            <a:solidFill>
              <a:srgbClr val="A04E6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784080" y="3886200"/>
            <a:ext cx="237744" cy="237744"/>
          </a:xfrm>
          <a:prstGeom prst="ellipse">
            <a:avLst/>
          </a:prstGeom>
          <a:solidFill>
            <a:srgbClr val="D85062"/>
          </a:solidFill>
          <a:ln w="12700">
            <a:solidFill>
              <a:srgbClr val="D85062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195560" y="3794760"/>
            <a:ext cx="237744" cy="237744"/>
          </a:xfrm>
          <a:prstGeom prst="ellipse">
            <a:avLst/>
          </a:prstGeom>
          <a:solidFill>
            <a:srgbClr val="D85062"/>
          </a:solidFill>
          <a:ln w="12700">
            <a:solidFill>
              <a:srgbClr val="D85062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607040" y="4114800"/>
            <a:ext cx="237744" cy="237744"/>
          </a:xfrm>
          <a:prstGeom prst="ellipse">
            <a:avLst/>
          </a:prstGeom>
          <a:solidFill>
            <a:srgbClr val="D85062"/>
          </a:solidFill>
          <a:ln w="12700">
            <a:solidFill>
              <a:srgbClr val="D8506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966960" y="4389120"/>
            <a:ext cx="237744" cy="237744"/>
          </a:xfrm>
          <a:prstGeom prst="ellipse">
            <a:avLst/>
          </a:prstGeom>
          <a:solidFill>
            <a:srgbClr val="F2C84B"/>
          </a:solidFill>
          <a:ln w="12700">
            <a:solidFill>
              <a:srgbClr val="F2C84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424160" y="4526280"/>
            <a:ext cx="237744" cy="237744"/>
          </a:xfrm>
          <a:prstGeom prst="ellipse">
            <a:avLst/>
          </a:prstGeom>
          <a:solidFill>
            <a:srgbClr val="F2C84B"/>
          </a:solidFill>
          <a:ln w="12700">
            <a:solidFill>
              <a:srgbClr val="F2C84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287000" y="4892040"/>
            <a:ext cx="237744" cy="237744"/>
          </a:xfrm>
          <a:prstGeom prst="ellipse">
            <a:avLst/>
          </a:prstGeom>
          <a:solidFill>
            <a:srgbClr val="A04E62"/>
          </a:solidFill>
          <a:ln w="12700">
            <a:solidFill>
              <a:srgbClr val="A04E6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8613648" y="5074920"/>
            <a:ext cx="2816352" cy="457200"/>
          </a:xfrm>
          <a:prstGeom prst="roundRect">
            <a:avLst>
              <a:gd name="adj" fmla="val 24000"/>
            </a:avLst>
          </a:prstGeom>
          <a:solidFill>
            <a:srgbClr val="F8DFE8"/>
          </a:solidFill>
          <a:ln w="12700">
            <a:solidFill>
              <a:srgbClr val="F8DFE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741664" y="521208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04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答案提示：可能性是1/2。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F8DFE8">
              <a:alpha val="78000"/>
            </a:srgbClr>
          </a:solidFill>
          <a:ln w="12700">
            <a:solidFill>
              <a:srgbClr val="F8DFE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F8DFE8">
              <a:alpha val="72000"/>
            </a:srgbClr>
          </a:solidFill>
          <a:ln w="12700">
            <a:solidFill>
              <a:srgbClr val="F8DFE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A04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可能性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挑战与应用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把知识带回真实情境，训练“会用”而不是“会背”。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4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4F86C6"/>
          </a:solidFill>
          <a:ln w="12700">
            <a:solidFill>
              <a:srgbClr val="4F86C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1481328"/>
            <a:ext cx="548640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1755648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A04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游戏公平吗？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32688" y="2176272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甲掷一个骰子，掷出 1、2、3 算赢；乙掷出 4、5、6 算赢。这个游戏公平吗？如果改成甲赢 1、2，乙赢 3、4、5、6 呢？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932688" y="4343400"/>
            <a:ext cx="4663440" cy="804672"/>
          </a:xfrm>
          <a:prstGeom prst="roundRect">
            <a:avLst>
              <a:gd name="adj" fmla="val 13636"/>
            </a:avLst>
          </a:prstGeom>
          <a:solidFill>
            <a:srgbClr val="FBEED1"/>
          </a:solidFill>
          <a:ln w="12700">
            <a:solidFill>
              <a:srgbClr val="FBEED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15568" y="4553712"/>
            <a:ext cx="43159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参考答案：前者公平，后者不公平，乙更容易赢。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382512" y="1481328"/>
            <a:ext cx="5148072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76288" y="2212848"/>
            <a:ext cx="297180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0" y="2395728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甲赢:1,2,3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7132320" y="283464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乙赢:4,5,6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7132320" y="3273552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各3种结果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7132320" y="371246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A04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公平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F8DFE8">
              <a:alpha val="78000"/>
            </a:srgbClr>
          </a:solidFill>
          <a:ln w="12700">
            <a:solidFill>
              <a:srgbClr val="F8DFE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F8DFE8">
              <a:alpha val="72000"/>
            </a:srgbClr>
          </a:solidFill>
          <a:ln w="12700">
            <a:solidFill>
              <a:srgbClr val="F8DFE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A04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可能性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小结与自检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用“我会不会”收口，帮助学生形成清晰的复盘感。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4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4F86C6"/>
          </a:solidFill>
          <a:ln w="12700">
            <a:solidFill>
              <a:srgbClr val="4F86C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1481328"/>
            <a:ext cx="530352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17556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A04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我今天至少要带走这三件事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32688" y="2194560"/>
            <a:ext cx="4526280" cy="658368"/>
          </a:xfrm>
          <a:prstGeom prst="roundRect">
            <a:avLst>
              <a:gd name="adj" fmla="val 16667"/>
            </a:avLst>
          </a:prstGeom>
          <a:solidFill>
            <a:srgbClr val="F8DFE8"/>
          </a:solidFill>
          <a:ln w="12700">
            <a:solidFill>
              <a:srgbClr val="F8DF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78992" y="2359152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78992" y="2383292"/>
            <a:ext cx="20116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371600" y="23591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我能区分一定、可能、不可能。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932688" y="3154680"/>
            <a:ext cx="4526280" cy="658368"/>
          </a:xfrm>
          <a:prstGeom prst="roundRect">
            <a:avLst>
              <a:gd name="adj" fmla="val 16667"/>
            </a:avLst>
          </a:prstGeom>
          <a:solidFill>
            <a:srgbClr val="FBEED1"/>
          </a:solidFill>
          <a:ln w="12700">
            <a:solidFill>
              <a:srgbClr val="FBEED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78992" y="3319272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78992" y="3343412"/>
            <a:ext cx="20116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371600" y="331927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我会比较不同结果对应的可能性大小。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932688" y="4114800"/>
            <a:ext cx="4526280" cy="658368"/>
          </a:xfrm>
          <a:prstGeom prst="roundRect">
            <a:avLst>
              <a:gd name="adj" fmla="val 16667"/>
            </a:avLst>
          </a:prstGeom>
          <a:solidFill>
            <a:srgbClr val="F8DFE8"/>
          </a:solidFill>
          <a:ln w="12700">
            <a:solidFill>
              <a:srgbClr val="F8DF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78992" y="4279392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78992" y="4303532"/>
            <a:ext cx="20116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371600" y="427939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我知道用试验结果来支持判断，但不能迷信少量样本。 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172200" y="1481328"/>
            <a:ext cx="5358384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06640" y="2331720"/>
            <a:ext cx="1737360" cy="1965960"/>
          </a:xfrm>
          <a:prstGeom prst="arc">
            <a:avLst/>
          </a:prstGeom>
          <a:solidFill>
            <a:srgbClr val="F8DFE8"/>
          </a:solidFill>
          <a:ln w="12700">
            <a:solidFill>
              <a:srgbClr val="A04E6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90688" y="2194560"/>
            <a:ext cx="1005840" cy="256032"/>
          </a:xfrm>
          <a:prstGeom prst="rect">
            <a:avLst/>
          </a:prstGeom>
          <a:solidFill>
            <a:srgbClr val="A04E62"/>
          </a:solidFill>
          <a:ln w="12700">
            <a:solidFill>
              <a:srgbClr val="A04E6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726680" y="2788920"/>
            <a:ext cx="237744" cy="237744"/>
          </a:xfrm>
          <a:prstGeom prst="ellipse">
            <a:avLst/>
          </a:prstGeom>
          <a:solidFill>
            <a:srgbClr val="D85062"/>
          </a:solidFill>
          <a:ln w="12700">
            <a:solidFill>
              <a:srgbClr val="D8506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138160" y="2697480"/>
            <a:ext cx="237744" cy="237744"/>
          </a:xfrm>
          <a:prstGeom prst="ellipse">
            <a:avLst/>
          </a:prstGeom>
          <a:solidFill>
            <a:srgbClr val="D85062"/>
          </a:solidFill>
          <a:ln w="12700">
            <a:solidFill>
              <a:srgbClr val="D8506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549640" y="3017520"/>
            <a:ext cx="237744" cy="237744"/>
          </a:xfrm>
          <a:prstGeom prst="ellipse">
            <a:avLst/>
          </a:prstGeom>
          <a:solidFill>
            <a:srgbClr val="D85062"/>
          </a:solidFill>
          <a:ln w="12700">
            <a:solidFill>
              <a:srgbClr val="D8506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909560" y="3291840"/>
            <a:ext cx="237744" cy="237744"/>
          </a:xfrm>
          <a:prstGeom prst="ellipse">
            <a:avLst/>
          </a:prstGeom>
          <a:solidFill>
            <a:srgbClr val="F2C84B"/>
          </a:solidFill>
          <a:ln w="12700">
            <a:solidFill>
              <a:srgbClr val="F2C84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366760" y="3429000"/>
            <a:ext cx="237744" cy="237744"/>
          </a:xfrm>
          <a:prstGeom prst="ellipse">
            <a:avLst/>
          </a:prstGeom>
          <a:solidFill>
            <a:srgbClr val="F2C84B"/>
          </a:solidFill>
          <a:ln w="12700">
            <a:solidFill>
              <a:srgbClr val="F2C84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229600" y="3794760"/>
            <a:ext cx="237744" cy="237744"/>
          </a:xfrm>
          <a:prstGeom prst="ellipse">
            <a:avLst/>
          </a:prstGeom>
          <a:solidFill>
            <a:srgbClr val="A04E62"/>
          </a:solidFill>
          <a:ln w="12700">
            <a:solidFill>
              <a:srgbClr val="A04E6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29400" y="5321808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04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自评口令：会说模型 -&gt; 会做题 -&gt; 会检查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-457200"/>
            <a:ext cx="3474720" cy="2011680"/>
          </a:xfrm>
          <a:prstGeom prst="ellipse">
            <a:avLst/>
          </a:prstGeom>
          <a:solidFill>
            <a:srgbClr val="F8DFE8">
              <a:alpha val="78000"/>
            </a:srgbClr>
          </a:solidFill>
          <a:ln w="12700">
            <a:solidFill>
              <a:srgbClr val="F8DFE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5394960"/>
            <a:ext cx="2560320" cy="1645920"/>
          </a:xfrm>
          <a:prstGeom prst="ellipse">
            <a:avLst/>
          </a:prstGeom>
          <a:solidFill>
            <a:srgbClr val="F8DFE8">
              <a:alpha val="72000"/>
            </a:srgbClr>
          </a:solidFill>
          <a:ln w="12700">
            <a:solidFill>
              <a:srgbClr val="F8DFE8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10896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A04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可能性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5394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作业与下节衔接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1078992"/>
            <a:ext cx="5669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收束本章，留下可以独立完成的练习和前置准备。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0" y="7315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04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数学探险地图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52220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86968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1715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64624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912096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259568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0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54512" y="457200"/>
            <a:ext cx="310896" cy="0"/>
          </a:xfrm>
          <a:prstGeom prst="line">
            <a:avLst/>
          </a:prstGeom>
          <a:noFill/>
          <a:ln w="12700">
            <a:solidFill>
              <a:srgbClr val="B7C7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1248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5995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0742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54896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802368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49840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497312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844784" y="384048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CB4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384048"/>
            <a:ext cx="164592" cy="164592"/>
          </a:xfrm>
          <a:prstGeom prst="ellipse">
            <a:avLst/>
          </a:prstGeom>
          <a:solidFill>
            <a:srgbClr val="4F86C6"/>
          </a:solidFill>
          <a:ln w="12700">
            <a:solidFill>
              <a:srgbClr val="4F86C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1481328"/>
            <a:ext cx="649224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32688" y="175564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A04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课后任务</a:t>
            </a:r>
            <a:endParaRPr lang="en-US" sz="2200" dirty="0"/>
          </a:p>
        </p:txBody>
      </p:sp>
      <p:sp>
        <p:nvSpPr>
          <p:cNvPr id="28" name="Shape 26"/>
          <p:cNvSpPr/>
          <p:nvPr/>
        </p:nvSpPr>
        <p:spPr>
          <a:xfrm>
            <a:off x="969264" y="2176272"/>
            <a:ext cx="164592" cy="164592"/>
          </a:xfrm>
          <a:prstGeom prst="ellipse">
            <a:avLst/>
          </a:prstGeom>
          <a:solidFill>
            <a:srgbClr val="4F86C6"/>
          </a:solidFill>
          <a:ln w="12700">
            <a:solidFill>
              <a:srgbClr val="4F86C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9264" y="2196023"/>
            <a:ext cx="164592" cy="12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25296" y="2066544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设计一个摸球或转盘小游戏，并判断是否公平。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969264" y="3017520"/>
            <a:ext cx="164592" cy="164592"/>
          </a:xfrm>
          <a:prstGeom prst="ellipse">
            <a:avLst/>
          </a:prstGeom>
          <a:solidFill>
            <a:srgbClr val="4F86C6"/>
          </a:solidFill>
          <a:ln w="12700">
            <a:solidFill>
              <a:srgbClr val="4F86C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9264" y="3037271"/>
            <a:ext cx="164592" cy="12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225296" y="290779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完成 2 题分数形式表示可能性。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969264" y="3858768"/>
            <a:ext cx="164592" cy="164592"/>
          </a:xfrm>
          <a:prstGeom prst="ellipse">
            <a:avLst/>
          </a:prstGeom>
          <a:solidFill>
            <a:srgbClr val="4F86C6"/>
          </a:solidFill>
          <a:ln w="12700">
            <a:solidFill>
              <a:srgbClr val="4F86C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9264" y="3878519"/>
            <a:ext cx="164592" cy="1250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225296" y="3749040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预习总复习：整理本学期最容易错的 3 个知识点。 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7333488" y="1481328"/>
            <a:ext cx="4197096" cy="4526280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 w="12700">
            <a:solidFill>
              <a:srgbClr val="D5E2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71232" y="175564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A04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下节衔接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7571232" y="2084832"/>
            <a:ext cx="3621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37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总复习</a:t>
            </a:r>
            <a:endParaRPr lang="en-US" sz="2200" dirty="0"/>
          </a:p>
        </p:txBody>
      </p:sp>
      <p:sp>
        <p:nvSpPr>
          <p:cNvPr id="40" name="Shape 38"/>
          <p:cNvSpPr/>
          <p:nvPr/>
        </p:nvSpPr>
        <p:spPr>
          <a:xfrm>
            <a:off x="8412480" y="3172968"/>
            <a:ext cx="1737360" cy="1965960"/>
          </a:xfrm>
          <a:prstGeom prst="arc">
            <a:avLst/>
          </a:prstGeom>
          <a:solidFill>
            <a:srgbClr val="F8DFE8"/>
          </a:solidFill>
          <a:ln w="12700">
            <a:solidFill>
              <a:srgbClr val="A04E62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796528" y="3035808"/>
            <a:ext cx="1005840" cy="256032"/>
          </a:xfrm>
          <a:prstGeom prst="rect">
            <a:avLst/>
          </a:prstGeom>
          <a:solidFill>
            <a:srgbClr val="A04E62"/>
          </a:solidFill>
          <a:ln w="12700">
            <a:solidFill>
              <a:srgbClr val="A04E62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732520" y="3630168"/>
            <a:ext cx="237744" cy="237744"/>
          </a:xfrm>
          <a:prstGeom prst="ellipse">
            <a:avLst/>
          </a:prstGeom>
          <a:solidFill>
            <a:srgbClr val="D85062"/>
          </a:solidFill>
          <a:ln w="12700">
            <a:solidFill>
              <a:srgbClr val="D85062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144000" y="3538728"/>
            <a:ext cx="237744" cy="237744"/>
          </a:xfrm>
          <a:prstGeom prst="ellipse">
            <a:avLst/>
          </a:prstGeom>
          <a:solidFill>
            <a:srgbClr val="D85062"/>
          </a:solidFill>
          <a:ln w="12700">
            <a:solidFill>
              <a:srgbClr val="D8506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555480" y="3858768"/>
            <a:ext cx="237744" cy="237744"/>
          </a:xfrm>
          <a:prstGeom prst="ellipse">
            <a:avLst/>
          </a:prstGeom>
          <a:solidFill>
            <a:srgbClr val="D85062"/>
          </a:solidFill>
          <a:ln w="12700">
            <a:solidFill>
              <a:srgbClr val="D85062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915400" y="4133088"/>
            <a:ext cx="237744" cy="237744"/>
          </a:xfrm>
          <a:prstGeom prst="ellipse">
            <a:avLst/>
          </a:prstGeom>
          <a:solidFill>
            <a:srgbClr val="F2C84B"/>
          </a:solidFill>
          <a:ln w="12700">
            <a:solidFill>
              <a:srgbClr val="F2C84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9372600" y="4270248"/>
            <a:ext cx="237744" cy="237744"/>
          </a:xfrm>
          <a:prstGeom prst="ellipse">
            <a:avLst/>
          </a:prstGeom>
          <a:solidFill>
            <a:srgbClr val="F2C84B"/>
          </a:solidFill>
          <a:ln w="12700">
            <a:solidFill>
              <a:srgbClr val="F2C84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235440" y="4636008"/>
            <a:ext cx="237744" cy="237744"/>
          </a:xfrm>
          <a:prstGeom prst="ellipse">
            <a:avLst/>
          </a:prstGeom>
          <a:solidFill>
            <a:srgbClr val="A04E62"/>
          </a:solidFill>
          <a:ln w="12700">
            <a:solidFill>
              <a:srgbClr val="A04E6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589520" y="5212080"/>
            <a:ext cx="3639312" cy="438912"/>
          </a:xfrm>
          <a:prstGeom prst="roundRect">
            <a:avLst>
              <a:gd name="adj" fmla="val 25000"/>
            </a:avLst>
          </a:prstGeom>
          <a:solidFill>
            <a:srgbClr val="F8DFE8"/>
          </a:solidFill>
          <a:ln w="12700">
            <a:solidFill>
              <a:srgbClr val="F8DF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699248" y="5340096"/>
            <a:ext cx="3401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04E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建议家长让孩子先口述“今天最重要的一句话”。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Airwallex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可能性</dc:title>
  <dc:subject>五年级数学 可能性</dc:subject>
  <dc:creator>Cursor GPT-5.4</dc:creator>
  <cp:lastModifiedBy>Cursor GPT-5.4</cp:lastModifiedBy>
  <cp:revision>1</cp:revision>
  <dcterms:created xsi:type="dcterms:W3CDTF">2026-08-25T10:21:31Z</dcterms:created>
  <dcterms:modified xsi:type="dcterms:W3CDTF">2026-08-25T10:21:31Z</dcterms:modified>
</cp:coreProperties>
</file>