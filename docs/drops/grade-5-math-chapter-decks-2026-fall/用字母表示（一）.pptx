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时间建议：3分钟
教学提示：先用封面快速激活话题，问孩子这个单元和生活有什么联系；说明今天的九站学习路线，降低未知感
预期学生回应：学生能说出见过的小数、三角形、坐标或概率情境中的至少一个；学生明白本节会先诊断再讲解
节奏安排：单课时建议：封面控制在3分钟内，尽快进入诊断。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时间建议：6分钟
教学提示：目标区只讲关键词，不展开全部定义；诊断题按“口答-追问-标记薄弱点”的节奏走；如果 3 题中错 2 题以上，本章讲解速度要放慢并增加示范
预期学生回应：4a；a+28；13
节奏安排：前2分钟看目标，后4分钟做诊断并记录错因关键词。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教学提示：边指图边讲模型，至少追问一次“为什么”；让学生用自己的话复述本页三个要点；如果学生只会背结论，要回到图上重新解释
预期学生回应：学生能把图上的关键量读出来；学生能用1-2句话复述本章核心模型
节奏安排：单课时中本页不要超过8分钟，讲完立即进入例题。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时间建议：9分钟
教学提示：题目先让学生独立想30秒，再听完整示范；每一步都要对应回模型，不要只报算式；答案出来后马上做一次合理性检查
预期学生回应：学生能跟着说出关键步骤：先列式：3a+2。 / 再代入 a=4，得到 3×4+2=14。 / 先有关系，后有数值，这是用字母表示的顺序。 ；最终答案应为：式子是 3a+2；当 a=4 时共 14 元。
节奏安排：前3分钟审题，4分钟示范，2分钟让学生复述并检查。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教学提示：不要只说“错了”，要让学生指出错在概念、步骤还是表达；每个误区都请学生自己改一次
预期学生回应：学生能说出错误原因；学生能把每个误区改成正确说法或正确做法
节奏安排：误区1和误区2必讲，误区3可根据诊断情况弹性压缩。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教学提示：每题先让学生独立作答1分钟，再口头说明方法；只在学生卡住时给提示，不要直接报答案；优先看学生是否用到本章关键词或模型
预期学生回应：2(a+5)；x+7；26
节奏安排：三题建议按照“基础 -&gt; 变式 -&gt; 表达解释”推进。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教学提示：先让学生口头说“要用哪一种方法”，再动笔；如果是开放题，重点评价解释是否清楚，而不是答案唯一
预期学生回应：可表示为 3n+1。；学生能把应用题和本章核心模型对应起来
节奏安排：有余力的学生可追问：如果数据变化，方法是否仍然有效？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时间建议：5分钟
教学提示：请学生对三条自检逐条打勾或打问号；遇到“半会”的点，要马上口头说出补救办法
预期学生回应：学生能说出至少一个本章最关键的方法；学生能指出自己最需要继续练的一个点
节奏安排：若是双课时结尾，可把这一页作为第二课时最后的回顾页。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教学提示：逐项确认作业要求，尤其提醒孩子把过程和解释写出来；下节衔接只说1-2个观察点，让预习有方向
预期学生回应：学生能复述今天最重要的一句话；学生知道下节将进入《多边形的面积》
节奏安排：最后1分钟请学生口头总结，不再引入新知识点。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23B71"/>
          </a:solidFill>
          <a:ln w="12700">
            <a:solidFill>
              <a:srgbClr val="523B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562356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秋季 五年级数学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用字母表示（一）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把一句一句的话，整理成一眼能看懂的数学表达式。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80944" y="3246120"/>
            <a:ext cx="2194560" cy="475488"/>
          </a:xfrm>
          <a:prstGeom prst="roundRect">
            <a:avLst>
              <a:gd name="adj" fmla="val 23077"/>
            </a:avLst>
          </a:prstGeom>
          <a:solidFill>
            <a:srgbClr val="FBE6BF"/>
          </a:solidFill>
          <a:ln w="12700">
            <a:solidFill>
              <a:srgbClr val="FBE6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64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建议用时：1课时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33649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适用：家长/教师一对一辅导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理解字母表示数、数量关系和简单公式，会代入求值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九站结构：目标诊断 -&gt; 模型理解 -&gt; 例题 -&gt; 纠错 -&gt; 练习 -&gt; 应用 -&gt; 自检 -&gt; 作业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04888" y="1920240"/>
            <a:ext cx="594360" cy="594360"/>
          </a:xfrm>
          <a:prstGeom prst="ellipse">
            <a:avLst/>
          </a:prstGeom>
          <a:solidFill>
            <a:srgbClr val="EFE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04888" y="1991563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18120" y="1901952"/>
            <a:ext cx="1417320" cy="640080"/>
          </a:xfrm>
          <a:prstGeom prst="chevron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37576" y="20482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 再 +2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45168" y="1920240"/>
            <a:ext cx="594360" cy="594360"/>
          </a:xfrm>
          <a:prstGeom prst="ellipse">
            <a:avLst/>
          </a:prstGeom>
          <a:solidFill>
            <a:srgbClr val="FBE7B6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1991563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3a+2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89520" y="29900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关系先于结果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E4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EFE4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EFE4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EFE4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EFE4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EFE4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EFE4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EFE4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EFE4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44200" y="566928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029127" y="5729265"/>
            <a:ext cx="179954" cy="254935"/>
          </a:xfrm>
          <a:prstGeom prst="triangl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11029127" y="6104169"/>
            <a:ext cx="179954" cy="254935"/>
          </a:xfrm>
          <a:prstGeom prst="triangl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19104" y="5834238"/>
            <a:ext cx="0" cy="419892"/>
          </a:xfrm>
          <a:prstGeom prst="line">
            <a:avLst/>
          </a:prstGeom>
          <a:noFill/>
          <a:ln w="12700">
            <a:solidFill>
              <a:srgbClr val="523B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59119" y="5632704"/>
            <a:ext cx="1199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FE4FA">
              <a:alpha val="78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FE4FA">
              <a:alpha val="72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用字母表示（一）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学习目标与 5 分钟诊断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先看要学什么，再用 3 个小问题判断起点。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146304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719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本章目标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4400" y="22402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176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知道字母可以表示变化的数、未知数和数量关系。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26974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26334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会把文字关系写成简单含字母的式子。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0906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会把已知数代入式子求值。 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89320" y="1463040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719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5分钟诊断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309360" y="214884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3042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正方形边长 a，周长怎样表示？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73952" y="25511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答案提示：4a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227832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3832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妈妈比明明大 28 岁，明明 a 岁，妈妈几岁？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36301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答案提示：a+28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306824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4622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当 a=5 时，2a+3 等于多少？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73952" y="470916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答案提示：13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48840" y="5166360"/>
            <a:ext cx="594360" cy="594360"/>
          </a:xfrm>
          <a:prstGeom prst="ellipse">
            <a:avLst/>
          </a:prstGeom>
          <a:solidFill>
            <a:srgbClr val="EFE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48840" y="5237683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862072" y="5148072"/>
            <a:ext cx="1417320" cy="640080"/>
          </a:xfrm>
          <a:prstGeom prst="chevron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1528" y="52943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389120" y="5166360"/>
            <a:ext cx="594360" cy="594360"/>
          </a:xfrm>
          <a:prstGeom prst="ellipse">
            <a:avLst/>
          </a:prstGeom>
          <a:solidFill>
            <a:srgbClr val="FBE7B6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0" y="5237683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x+7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331720" y="62636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同一字母代表同一个量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1018520" y="5998464"/>
            <a:ext cx="475488" cy="475488"/>
          </a:xfrm>
          <a:prstGeom prst="ellipse">
            <a:avLst/>
          </a:prstGeom>
          <a:solidFill>
            <a:srgbClr val="EFE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199205" y="6036503"/>
            <a:ext cx="114117" cy="161666"/>
          </a:xfrm>
          <a:prstGeom prst="triangl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0800000">
            <a:off x="11199205" y="6274247"/>
            <a:ext cx="114117" cy="161666"/>
          </a:xfrm>
          <a:prstGeom prst="triangl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256264" y="6103071"/>
            <a:ext cx="0" cy="266273"/>
          </a:xfrm>
          <a:prstGeom prst="line">
            <a:avLst/>
          </a:prstGeom>
          <a:noFill/>
          <a:ln w="12700">
            <a:solidFill>
              <a:srgbClr val="25374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218225" y="5961888"/>
            <a:ext cx="76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FE4FA">
              <a:alpha val="78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FE4FA">
              <a:alpha val="72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用字母表示（一）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核心概念与模型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字母像一个“位置牌”：先表达关系，再决定数值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16736" y="2587752"/>
            <a:ext cx="594360" cy="594360"/>
          </a:xfrm>
          <a:prstGeom prst="ellipse">
            <a:avLst/>
          </a:prstGeom>
          <a:solidFill>
            <a:srgbClr val="EFE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16736" y="2659075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029968" y="2569464"/>
            <a:ext cx="1417320" cy="640080"/>
          </a:xfrm>
          <a:prstGeom prst="chevron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9424" y="2715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 再 +2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557016" y="2587752"/>
            <a:ext cx="594360" cy="594360"/>
          </a:xfrm>
          <a:prstGeom prst="ellipse">
            <a:avLst/>
          </a:prstGeom>
          <a:solidFill>
            <a:srgbClr val="FBE7B6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57016" y="2659075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3a+2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801368" y="365760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关系先于结果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19088" y="1481328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737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抓住这 3 个要点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720840" y="22768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2128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字母可以临时代替一个数，让关系更简洁。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720840" y="27340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2670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含字母式子读作“几和几的关系”，不是马上求答案。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720840" y="31912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127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代入时要把同一个字母替换成同一个数。 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720840" y="379476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3977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教学提醒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31152" y="4224528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让学生先“说模型”，再“做题”。只给算法不够，要追问为什么能这样做。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FE4FA">
              <a:alpha val="78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FE4FA">
              <a:alpha val="72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用字母表示（一）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例题精讲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把模型落到一道典型题上，完整示范思路与书写。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2688" y="199339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一本练习本 a 元，买 3 本再加 2 元袋子费，一共多少钱？当 a=4 时是多少？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示范步骤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2688" y="3154680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17443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70432" y="3035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先列式：3a+2。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2688" y="3685032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70478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70432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再代入 a=4，得到 3×4+2=14。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32688" y="4215384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235135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70432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先有关系，后有数值，这是用字母表示的顺序。 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32688" y="5138928"/>
            <a:ext cx="4709160" cy="530352"/>
          </a:xfrm>
          <a:prstGeom prst="roundRect">
            <a:avLst>
              <a:gd name="adj" fmla="val 20690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5568" y="530352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答案：式子是 3a+2；当 a=4 时共 14 元。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55080" y="1481328"/>
            <a:ext cx="517550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12280" y="2441448"/>
            <a:ext cx="594360" cy="594360"/>
          </a:xfrm>
          <a:prstGeom prst="ellipse">
            <a:avLst/>
          </a:prstGeom>
          <a:solidFill>
            <a:srgbClr val="EFE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2280" y="2512771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525512" y="2423160"/>
            <a:ext cx="1417320" cy="640080"/>
          </a:xfrm>
          <a:prstGeom prst="chevron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44968" y="25694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 再 +2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052560" y="2441448"/>
            <a:ext cx="594360" cy="594360"/>
          </a:xfrm>
          <a:prstGeom prst="ellipse">
            <a:avLst/>
          </a:prstGeom>
          <a:solidFill>
            <a:srgbClr val="FBE7B6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52560" y="2512771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086600" y="36301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 a=4 时，3a+2=14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FE4FA">
              <a:alpha val="78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FE4FA">
              <a:alpha val="72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用字母表示（一）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易错门诊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把常见错误摆出来，对照“为什么错、怎样改”。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00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1810512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197510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1：把 a 看成固定就是 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224942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修正：字母表示的是一个数，不一定是1。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3108960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CE7E9"/>
          </a:solidFill>
          <a:ln w="12700">
            <a:solidFill>
              <a:srgbClr val="FCE7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27355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2：3a 写成 3+a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54787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修正：3a 表示 3×a，是乘法的简写。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4407408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57200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3：同一题里两个 a 可以代不同数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" y="484632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修正：同一情境下同一字母表示同一个量。 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1481328"/>
            <a:ext cx="4261104" cy="452628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45552" y="2807208"/>
            <a:ext cx="594360" cy="594360"/>
          </a:xfrm>
          <a:prstGeom prst="ellipse">
            <a:avLst/>
          </a:prstGeom>
          <a:solidFill>
            <a:srgbClr val="EFE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45552" y="2878531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558784" y="2788920"/>
            <a:ext cx="1417320" cy="640080"/>
          </a:xfrm>
          <a:prstGeom prst="chevron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0" y="29352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0085832" y="2807208"/>
            <a:ext cx="594360" cy="594360"/>
          </a:xfrm>
          <a:prstGeom prst="ellipse">
            <a:avLst/>
          </a:prstGeom>
          <a:solidFill>
            <a:srgbClr val="FBE7B6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85832" y="2878531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x+7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028432" y="3904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同一字母代表同一个量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FE4FA">
              <a:alpha val="78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FE4FA">
              <a:alpha val="72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用字母表示（一）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引导练习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一题一停顿，观察学生是否把模型迁移到新题。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长方形长 a、宽 5，周长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25880" y="3867912"/>
            <a:ext cx="594360" cy="594360"/>
          </a:xfrm>
          <a:prstGeom prst="ellipse">
            <a:avLst/>
          </a:prstGeom>
          <a:solidFill>
            <a:srgbClr val="EFE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5880" y="3939235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039112" y="3849624"/>
            <a:ext cx="1417320" cy="640080"/>
          </a:xfrm>
          <a:prstGeom prst="chevron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58568" y="39959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566160" y="3867912"/>
            <a:ext cx="594360" cy="594360"/>
          </a:xfrm>
          <a:prstGeom prst="ellipse">
            <a:avLst/>
          </a:prstGeom>
          <a:solidFill>
            <a:srgbClr val="FBE7B6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3939235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x+7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508760" y="4965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同一字母代表同一个量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2412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5214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答案提示：2(a+5)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1772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81888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 x 多 7 的数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120640" y="3867912"/>
            <a:ext cx="594360" cy="594360"/>
          </a:xfrm>
          <a:prstGeom prst="ellipse">
            <a:avLst/>
          </a:prstGeom>
          <a:solidFill>
            <a:srgbClr val="EFE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3939235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833872" y="3849624"/>
            <a:ext cx="1417320" cy="640080"/>
          </a:xfrm>
          <a:prstGeom prst="chevron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53328" y="39959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360920" y="3867912"/>
            <a:ext cx="594360" cy="594360"/>
          </a:xfrm>
          <a:prstGeom prst="ellipse">
            <a:avLst/>
          </a:prstGeom>
          <a:solidFill>
            <a:srgbClr val="FBE7B6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3939235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x+7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03520" y="4965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同一字母代表同一个量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1888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690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答案提示：x+7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41248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1364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3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61364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 m=6 时，5m−4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8915400" y="3867912"/>
            <a:ext cx="594360" cy="594360"/>
          </a:xfrm>
          <a:prstGeom prst="ellipse">
            <a:avLst/>
          </a:prstGeom>
          <a:solidFill>
            <a:srgbClr val="EFE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15400" y="3939235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628632" y="3849624"/>
            <a:ext cx="1417320" cy="640080"/>
          </a:xfrm>
          <a:prstGeom prst="chevron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48088" y="39959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1155680" y="3867912"/>
            <a:ext cx="594360" cy="594360"/>
          </a:xfrm>
          <a:prstGeom prst="ellipse">
            <a:avLst/>
          </a:prstGeom>
          <a:solidFill>
            <a:srgbClr val="FBE7B6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155680" y="3939235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x+7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9098280" y="4965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同一字母代表同一个量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61364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74166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FE4FA">
              <a:alpha val="78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FE4FA">
              <a:alpha val="72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用字母表示（一）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挑战与应用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把知识带回真实情境，训练“会用”而不是“会背”。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拼图规律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2688" y="2176272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个图形用 4 根小棒，第 2 个用 7 根，第 3 个用 10 根。第 n 个图形需要多少根？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32688" y="4343400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455371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参考答案：可表示为 3n+1。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82512" y="1481328"/>
            <a:ext cx="514807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03136" y="2121408"/>
            <a:ext cx="29260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04888" y="23500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第1个:4根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04888" y="2788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第2个:7根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04888" y="32278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第3个:10根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04888" y="366674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规律:每次+3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FE4FA">
              <a:alpha val="78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FE4FA">
              <a:alpha val="72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用字母表示（一）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小结与自检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用“我会不会”收口，帮助学生形成清晰的复盘感。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我今天至少要带走这三件事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2688" y="219456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" y="23591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238329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我知道字母可以表示数量关系。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2688" y="315468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" y="33192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34341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我会把一句话改写成含字母的式子。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32688" y="411480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" y="42793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30353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我会代入求值并保留原来的运算顺序。 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72200" y="1481328"/>
            <a:ext cx="535838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58000" y="2770632"/>
            <a:ext cx="594360" cy="594360"/>
          </a:xfrm>
          <a:prstGeom prst="ellipse">
            <a:avLst/>
          </a:prstGeom>
          <a:solidFill>
            <a:srgbClr val="EFE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2841955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571232" y="2752344"/>
            <a:ext cx="1417320" cy="640080"/>
          </a:xfrm>
          <a:prstGeom prst="chevron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90688" y="28986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098280" y="2770632"/>
            <a:ext cx="594360" cy="594360"/>
          </a:xfrm>
          <a:prstGeom prst="ellipse">
            <a:avLst/>
          </a:prstGeom>
          <a:solidFill>
            <a:srgbClr val="FBE7B6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2841955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x+7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040880" y="3867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同一字母代表同一个量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29400" y="53218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自评口令：会说模型 -&gt; 会做题 -&gt; 会检查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EFE4FA">
              <a:alpha val="78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EFE4FA">
              <a:alpha val="72000"/>
            </a:srgbClr>
          </a:solidFill>
          <a:ln w="12700">
            <a:solidFill>
              <a:srgbClr val="EFE4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用字母表示（一）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作业与下节衔接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收束本章，留下可以独立完成的练习和前置准备。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92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9264" y="2176272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219602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25296" y="20665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3 个生活句子改写成含字母式子。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9264" y="3017520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303727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25296" y="290779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2 题代入求值。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9264" y="3858768"/>
            <a:ext cx="164592" cy="164592"/>
          </a:xfrm>
          <a:prstGeom prst="ellipse">
            <a:avLst/>
          </a:prstGeom>
          <a:solidFill>
            <a:srgbClr val="F3B63F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3878519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25296" y="3749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预习下节：回忆长方形、平行四边形面积公式。 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33488" y="1481328"/>
            <a:ext cx="4197096" cy="452628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下节衔接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71232" y="208483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多边形的面积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863840" y="3611880"/>
            <a:ext cx="594360" cy="594360"/>
          </a:xfrm>
          <a:prstGeom prst="ellipse">
            <a:avLst/>
          </a:prstGeom>
          <a:solidFill>
            <a:srgbClr val="EFE4FA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3683203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577072" y="3593592"/>
            <a:ext cx="1417320" cy="640080"/>
          </a:xfrm>
          <a:prstGeom prst="chevron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96528" y="3739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104120" y="3611880"/>
            <a:ext cx="594360" cy="594360"/>
          </a:xfrm>
          <a:prstGeom prst="ellipse">
            <a:avLst/>
          </a:prstGeom>
          <a:solidFill>
            <a:srgbClr val="FBE7B6"/>
          </a:solidFill>
          <a:ln w="12700">
            <a:solidFill>
              <a:srgbClr val="F3B63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04120" y="3683203"/>
            <a:ext cx="59436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x+7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046720" y="47091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同一字母代表同一个量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589520" y="5212080"/>
            <a:ext cx="3639312" cy="438912"/>
          </a:xfrm>
          <a:prstGeom prst="roundRect">
            <a:avLst>
              <a:gd name="adj" fmla="val 25000"/>
            </a:avLst>
          </a:prstGeom>
          <a:solidFill>
            <a:srgbClr val="EFE4FA"/>
          </a:solidFill>
          <a:ln w="12700">
            <a:solidFill>
              <a:srgbClr val="EFE4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99248" y="534009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A4C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建议家长让孩子先口述“今天最重要的一句话”。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Airwallex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用字母表示（一）</dc:title>
  <dc:subject>五年级数学 用字母表示（一）</dc:subject>
  <dc:creator>Cursor GPT-5.4</dc:creator>
  <cp:lastModifiedBy>Cursor GPT-5.4</cp:lastModifiedBy>
  <cp:revision>1</cp:revision>
  <dcterms:created xsi:type="dcterms:W3CDTF">2026-08-25T10:21:31Z</dcterms:created>
  <dcterms:modified xsi:type="dcterms:W3CDTF">2026-08-25T10:21:31Z</dcterms:modified>
</cp:coreProperties>
</file>